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Host Grotesk Medium" panose="020B0604020202020204" charset="0"/>
      <p:regular r:id="rId10"/>
    </p:embeddedFont>
    <p:embeddedFont>
      <p:font typeface="Roboto" panose="020F0502020204030204" pitchFamily="2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016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reestock.com/free-videos/suburban-home-3868847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hyperlink" Target="https://www.publicdomainpictures.net/ru/view-image.php?image=384562&amp;picture=-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9177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Network Design for </a:t>
            </a:r>
            <a:r>
              <a:rPr lang="en-US" sz="4450" dirty="0" err="1">
                <a:solidFill>
                  <a:srgbClr val="2E3C4E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NovaVision</a:t>
            </a:r>
            <a:r>
              <a:rPr lang="en-US" sz="4450" dirty="0">
                <a:solidFill>
                  <a:srgbClr val="2E3C4E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 Solutions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675459"/>
            <a:ext cx="7556421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err="1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NovaVision</a:t>
            </a: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Solutions, an international software and cloud services company headquartered in Melbourne, is expanding its global footprint. This presentation outlines a robust network design to support our operations in Sydney, Perth, and Kuala Lumpur.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291257"/>
            <a:ext cx="75564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Our objective is to design a </a:t>
            </a:r>
            <a:r>
              <a:rPr lang="en-US" sz="1750" b="1">
                <a:solidFill>
                  <a:srgbClr val="95CCDA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scalable, secure, and efficient network</a:t>
            </a:r>
            <a:r>
              <a:rPr lang="en-US" sz="175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that meets key requirements such as high-availability internet, secure inter-branch communication, optimized IP addressing, and robust cybersecurity.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5996BC-B1EB-834D-1946-9735767B4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48217"/>
          <a:stretch>
            <a:fillRect/>
          </a:stretch>
        </p:blipFill>
        <p:spPr>
          <a:xfrm>
            <a:off x="8663602" y="1"/>
            <a:ext cx="5966798" cy="82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01489" y="562570"/>
            <a:ext cx="6002298" cy="638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Network Topology Design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271" y="1564032"/>
            <a:ext cx="1021556" cy="17697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589139" y="1768344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Hybrid Topology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589139" y="2153483"/>
            <a:ext cx="6487954" cy="919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Combines Star topology for local area networks (LANs) within each branch and a Hub-and-Spoke wide area network (WAN) with Melbourne HQ as the central hub.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271" y="3333777"/>
            <a:ext cx="1021556" cy="14632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589139" y="3538089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Scalability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589139" y="3941501"/>
            <a:ext cx="6487954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Enables easy addition of new branch offices without redesigning the entire network infrastructure.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271" y="4797055"/>
            <a:ext cx="1021556" cy="14632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89139" y="5001367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Fault Isolation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589139" y="5342988"/>
            <a:ext cx="6487954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Branch failures are localized, preventing disruptions to other offices and ensuring business continuity.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3271" y="6260334"/>
            <a:ext cx="1021556" cy="146327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589139" y="6464645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Centralized Security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2589139" y="6849786"/>
            <a:ext cx="6487954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Allows for unified security policies and management from a single point, simplifying enforcement and monitoring.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1646" y="488156"/>
            <a:ext cx="6115883" cy="55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LAN Design for Branch Offices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741646" y="1501497"/>
            <a:ext cx="6516291" cy="1378268"/>
          </a:xfrm>
          <a:prstGeom prst="roundRect">
            <a:avLst>
              <a:gd name="adj" fmla="val 7961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786" y="1501497"/>
            <a:ext cx="91440" cy="13782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09299" y="1700570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Access Layer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009299" y="2152055"/>
            <a:ext cx="6049566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Layer-2 switches providing connectivity for end-user devices, ensuring efficient data transfer within the local segment.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741646" y="3055977"/>
            <a:ext cx="6516291" cy="1378268"/>
          </a:xfrm>
          <a:prstGeom prst="roundRect">
            <a:avLst>
              <a:gd name="adj" fmla="val 7961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786" y="3055977"/>
            <a:ext cx="91440" cy="13782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09299" y="3255050"/>
            <a:ext cx="232231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Distribution/Core Layer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2009299" y="3706535"/>
            <a:ext cx="6049566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Layer-3 switches handle inter-VLAN routing and provide high-speed backbone connectivity, enhancing network performance.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1741646" y="4610457"/>
            <a:ext cx="6516291" cy="1378268"/>
          </a:xfrm>
          <a:prstGeom prst="roundRect">
            <a:avLst>
              <a:gd name="adj" fmla="val 7961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786" y="4610457"/>
            <a:ext cx="91440" cy="13782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09299" y="4809530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Server VLAN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2009299" y="5261015"/>
            <a:ext cx="6049566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VLAN for 8 critical servers located on the 4th floor, offering enhanced security and resource isolation.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1741646" y="6164937"/>
            <a:ext cx="6516291" cy="1378268"/>
          </a:xfrm>
          <a:prstGeom prst="roundRect">
            <a:avLst>
              <a:gd name="adj" fmla="val 7961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786" y="6164937"/>
            <a:ext cx="91440" cy="13782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009299" y="6364010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Edge Firewall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2009299" y="6815495"/>
            <a:ext cx="6049566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placement between the LAN and WAN router for perimeter security, inspecting and filtering incoming/outgoing traffic.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8687872" y="6750249"/>
            <a:ext cx="4200882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hierarchical LAN structure enhances </a:t>
            </a:r>
            <a:r>
              <a:rPr lang="en-US" sz="13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performance, security, and simplifies management</a:t>
            </a: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branch offices.</a:t>
            </a:r>
            <a:endParaRPr lang="en-US" sz="13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5CD3024-9B58-0CDF-1FA0-B256CD5FF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7872" y="2426970"/>
            <a:ext cx="5112777" cy="393704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1556"/>
            <a:ext cx="70725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VLSM-based IP Addressing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83963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Our network utilizes the private IP range </a:t>
            </a: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172.61.0.0/16</a:t>
            </a: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with Variable Length Subnet Masking (VLSM) to optimize IP address usage and ensure efficient allocation. Subnets are allocated from largest to smallest to accommodate current and future growth.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119438"/>
            <a:ext cx="13042821" cy="3153132"/>
          </a:xfrm>
          <a:prstGeom prst="roundRect">
            <a:avLst>
              <a:gd name="adj" fmla="val 302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01410" y="3127057"/>
            <a:ext cx="13027581" cy="6275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8462" y="3270766"/>
            <a:ext cx="27993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Branch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89108" y="3270766"/>
            <a:ext cx="27955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Network Subnet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45943" y="3270766"/>
            <a:ext cx="27955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Subnet Mask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802779" y="3270766"/>
            <a:ext cx="27993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Max Hosts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1410" y="3754636"/>
            <a:ext cx="13027581" cy="6275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8462" y="3898344"/>
            <a:ext cx="27993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Melbourne HQ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89108" y="3898344"/>
            <a:ext cx="27955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172.61.0.0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45943" y="3898344"/>
            <a:ext cx="27955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/20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802779" y="3898344"/>
            <a:ext cx="27993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4094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1410" y="4382214"/>
            <a:ext cx="13027581" cy="6275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28462" y="4525923"/>
            <a:ext cx="27993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Sydney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89108" y="4525923"/>
            <a:ext cx="27955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172.61.16.0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45943" y="4525923"/>
            <a:ext cx="27955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/20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802779" y="4525923"/>
            <a:ext cx="27993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4094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1410" y="5009793"/>
            <a:ext cx="13027581" cy="6275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28462" y="5153501"/>
            <a:ext cx="27993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Kuala Lumpur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89108" y="5153501"/>
            <a:ext cx="27955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172.61.32.0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45943" y="5153501"/>
            <a:ext cx="27955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/21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802779" y="5153501"/>
            <a:ext cx="27993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2046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1410" y="5637371"/>
            <a:ext cx="13027581" cy="6275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28462" y="5781080"/>
            <a:ext cx="27993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Perth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289108" y="5781080"/>
            <a:ext cx="27955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172.61.40.0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545943" y="5781080"/>
            <a:ext cx="27955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/21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802779" y="5781080"/>
            <a:ext cx="279939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2046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3790" y="6527721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This strategic IP allocation not only </a:t>
            </a:r>
            <a:r>
              <a:rPr lang="en-US" sz="1750" dirty="0">
                <a:solidFill>
                  <a:srgbClr val="95CCDA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optimizes current IP usage</a:t>
            </a: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but also provides ample room for </a:t>
            </a:r>
            <a:r>
              <a:rPr lang="en-US" sz="1750" dirty="0">
                <a:solidFill>
                  <a:srgbClr val="95CCDA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future network expansion</a:t>
            </a:r>
            <a:r>
              <a:rPr lang="en-US" sz="17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without significant reconfigurations.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85880" y="472202"/>
            <a:ext cx="5370671" cy="53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Network Security Measures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085880" y="1264444"/>
            <a:ext cx="7945041" cy="513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Protecting NovaVision Solutions' data and infrastructure is paramount. We address potential threats with a multi-layered security approach.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085880" y="1970961"/>
            <a:ext cx="685205" cy="1920240"/>
          </a:xfrm>
          <a:prstGeom prst="roundRect">
            <a:avLst>
              <a:gd name="adj" fmla="val 3600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9954" y="2802493"/>
            <a:ext cx="256937" cy="2569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42296" y="2142173"/>
            <a:ext cx="2141339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Threats Identified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942296" y="2512576"/>
            <a:ext cx="708862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DDoS Attacks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942296" y="2829401"/>
            <a:ext cx="708862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Phishing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942296" y="3146227"/>
            <a:ext cx="708862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Ransomware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2296" y="3463052"/>
            <a:ext cx="708862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Breaches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085880" y="4062413"/>
            <a:ext cx="685205" cy="1920240"/>
          </a:xfrm>
          <a:prstGeom prst="roundRect">
            <a:avLst>
              <a:gd name="adj" fmla="val 3600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9954" y="4893945"/>
            <a:ext cx="256937" cy="2569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2296" y="4233624"/>
            <a:ext cx="2141339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Controls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942296" y="4604028"/>
            <a:ext cx="708862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Next-Gen Firewalls + IDS/IPS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942296" y="4920853"/>
            <a:ext cx="708862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VLAN Segmentation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942296" y="5237678"/>
            <a:ext cx="708862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VPN/SD-WAN with Encryption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942296" y="5554504"/>
            <a:ext cx="708862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MFA for Administrators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085880" y="6153864"/>
            <a:ext cx="685205" cy="1603415"/>
          </a:xfrm>
          <a:prstGeom prst="roundRect">
            <a:avLst>
              <a:gd name="adj" fmla="val 36001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9954" y="6827044"/>
            <a:ext cx="256937" cy="25693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42296" y="6325076"/>
            <a:ext cx="2141339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Security Policies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6942296" y="6695480"/>
            <a:ext cx="708862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Server Access Controls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42296" y="7012305"/>
            <a:ext cx="708862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Access Control (RBAC)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942296" y="7329130"/>
            <a:ext cx="708862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Monitoring &amp; Auditing</a:t>
            </a:r>
            <a:endParaRPr lang="en-US" sz="13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C9FA838-E620-3151-2AC0-735D7192A9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38238" y="953800"/>
            <a:ext cx="5233357" cy="3161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55294" y="547807"/>
            <a:ext cx="7474268" cy="490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2E3C4E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Ethics &amp; Hardware for a Resilient Network</a:t>
            </a:r>
            <a:endParaRPr lang="en-US"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355294" y="1684496"/>
            <a:ext cx="4768453" cy="1679019"/>
          </a:xfrm>
          <a:prstGeom prst="roundRect">
            <a:avLst>
              <a:gd name="adj" fmla="val 6535"/>
            </a:avLst>
          </a:prstGeom>
          <a:solidFill>
            <a:srgbClr val="FAF9F5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94" y="1661636"/>
            <a:ext cx="4768453" cy="914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313" y="1449348"/>
            <a:ext cx="470416" cy="4704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45402" y="1566982"/>
            <a:ext cx="18811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1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2534960" y="2076569"/>
            <a:ext cx="2870478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ACS Code of Professional Ethics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534960" y="2478405"/>
            <a:ext cx="440912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Adherence to principles of Public Interest, Privacy, and Professional Competence guides all network design and implementation decisions, ensuring responsible IT practices.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355294" y="3755469"/>
            <a:ext cx="4768453" cy="1679019"/>
          </a:xfrm>
          <a:prstGeom prst="roundRect">
            <a:avLst>
              <a:gd name="adj" fmla="val 6535"/>
            </a:avLst>
          </a:prstGeom>
          <a:solidFill>
            <a:srgbClr val="FAF9F5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94" y="3732609"/>
            <a:ext cx="4768453" cy="9144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313" y="3520321"/>
            <a:ext cx="470416" cy="4704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45402" y="3637955"/>
            <a:ext cx="18811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2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2534960" y="4147542"/>
            <a:ext cx="2500551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Data Security &amp; Regulations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2534960" y="4549378"/>
            <a:ext cx="440912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IT professionals are obligated to secure sensitive data and comply with all relevant industry regulations and legal frameworks.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2355294" y="5826443"/>
            <a:ext cx="4768453" cy="1679019"/>
          </a:xfrm>
          <a:prstGeom prst="roundRect">
            <a:avLst>
              <a:gd name="adj" fmla="val 6535"/>
            </a:avLst>
          </a:prstGeom>
          <a:solidFill>
            <a:srgbClr val="FAF9F5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94" y="5803583"/>
            <a:ext cx="4768453" cy="9144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313" y="5591294"/>
            <a:ext cx="470416" cy="47041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645402" y="5708928"/>
            <a:ext cx="18811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3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2534960" y="6218515"/>
            <a:ext cx="1960364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Ethical Oversight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2534960" y="6620351"/>
            <a:ext cx="440912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Maintaining transparency and integrity in all network operations and data handling processes is crucial for building trust.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514034" y="1429822"/>
            <a:ext cx="3466028" cy="39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2E3C4E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Hardware Specifications</a:t>
            </a: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4034" y="1998107"/>
            <a:ext cx="392073" cy="39207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102084" y="2091214"/>
            <a:ext cx="1960364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WAN Routers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8102084" y="2493050"/>
            <a:ext cx="41804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Enterprise-grade for robust inter-branch connectivity.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14034" y="3041809"/>
            <a:ext cx="392073" cy="39207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102084" y="3134916"/>
            <a:ext cx="1960364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Switches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8102084" y="3536752"/>
            <a:ext cx="418040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Layer-2 and Layer-3 switches for efficient LAN traffic management.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4034" y="4320659"/>
            <a:ext cx="392073" cy="39207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102084" y="4413766"/>
            <a:ext cx="1960364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Firewalls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9"/>
          <p:cNvSpPr/>
          <p:nvPr/>
        </p:nvSpPr>
        <p:spPr>
          <a:xfrm>
            <a:off x="8102084" y="4815602"/>
            <a:ext cx="418040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Next-gen firewalls with integrated IDS/IPS for advanced threat protection.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14034" y="5599509"/>
            <a:ext cx="392073" cy="392073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8102084" y="5692616"/>
            <a:ext cx="1960364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Cabling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1"/>
          <p:cNvSpPr/>
          <p:nvPr/>
        </p:nvSpPr>
        <p:spPr>
          <a:xfrm>
            <a:off x="8102084" y="6094452"/>
            <a:ext cx="418040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Cat 6 for high-speed LAN connections, fiber optics for backbone infrastructure.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0845" y="796766"/>
            <a:ext cx="8176380" cy="585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2E3C4E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Key Takeaways: A Future-Ready Network</a:t>
            </a:r>
            <a:endParaRPr lang="en-US"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00845" y="1791652"/>
            <a:ext cx="3664863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3643D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Hybrid Network Architecture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00845" y="2255163"/>
            <a:ext cx="11237357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Centralized control with segmented LANs for optimal performance and manageability across all NovaVision Solutions offices.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00845" y="2945606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3643D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Efficient IP Allocation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00845" y="3409117"/>
            <a:ext cx="11237357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VLSM implementation ensures optimal IP usage, minimizing waste and providing flexibility for future growth and expansion.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00845" y="4099560"/>
            <a:ext cx="3065502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3643D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Robust Security Posture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00845" y="4563070"/>
            <a:ext cx="11237357" cy="56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Comprehensive security policies and advanced controls, including next-gen firewalls and MFA, safeguard against evolving cyber threats.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00845" y="5534382"/>
            <a:ext cx="3662005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3643D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Scalability &amp; Future-Proofing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00845" y="5997893"/>
            <a:ext cx="11237357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The design accommodates seamless integration of new branches and technologies, ensuring long-term adaptability.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00845" y="6688336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3643D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Continuous Vigilance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00845" y="7151846"/>
            <a:ext cx="11237357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Ongoing security monitoring and regular audits are recommended to maintain network integrity and compliance.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669</Words>
  <Application>Microsoft Office PowerPoint</Application>
  <PresentationFormat>Custom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Host Grotesk Medium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rojan poudel</dc:creator>
  <cp:lastModifiedBy>Rojan Chandra Poudel</cp:lastModifiedBy>
  <cp:revision>4</cp:revision>
  <dcterms:created xsi:type="dcterms:W3CDTF">2026-01-22T08:00:50Z</dcterms:created>
  <dcterms:modified xsi:type="dcterms:W3CDTF">2026-10-26T16:19:51Z</dcterms:modified>
</cp:coreProperties>
</file>