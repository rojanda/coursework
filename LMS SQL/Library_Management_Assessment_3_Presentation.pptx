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3" d="100"/>
          <a:sy n="93" d="100"/>
        </p:scale>
        <p:origin x="274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3660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3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2.png"/><Relationship Id="rId10" Type="http://schemas.openxmlformats.org/officeDocument/2006/relationships/image" Target="../media/image18.png"/><Relationship Id="rId4" Type="http://schemas.openxmlformats.org/officeDocument/2006/relationships/image" Target="../media/image14.png"/><Relationship Id="rId9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188720"/>
            <a:ext cx="4754880" cy="4754880"/>
          </a:xfrm>
          <a:prstGeom prst="ellipse">
            <a:avLst/>
          </a:prstGeom>
          <a:solidFill>
            <a:srgbClr val="141B4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1463040" y="4754880"/>
            <a:ext cx="4023360" cy="4023360"/>
          </a:xfrm>
          <a:prstGeom prst="ellipse">
            <a:avLst/>
          </a:prstGeom>
          <a:solidFill>
            <a:srgbClr val="141B4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394960" y="1051560"/>
            <a:ext cx="1417320" cy="1417320"/>
          </a:xfrm>
          <a:prstGeom prst="ellipse">
            <a:avLst/>
          </a:prstGeom>
          <a:solidFill>
            <a:srgbClr val="2A357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5117" y="1391717"/>
            <a:ext cx="737006" cy="73700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743200"/>
            <a:ext cx="10515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Library Management</a:t>
            </a:r>
            <a:endParaRPr lang="en-US" sz="42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System</a:t>
            </a:r>
            <a:endParaRPr lang="en-US" sz="4200" dirty="0"/>
          </a:p>
        </p:txBody>
      </p:sp>
      <p:sp>
        <p:nvSpPr>
          <p:cNvPr id="7" name="Text 4"/>
          <p:cNvSpPr/>
          <p:nvPr/>
        </p:nvSpPr>
        <p:spPr>
          <a:xfrm>
            <a:off x="822960" y="42519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i="1" dirty="0">
                <a:solidFill>
                  <a:srgbClr val="FF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- 1</a:t>
            </a:r>
            <a:endParaRPr lang="en-US" sz="2000" b="1" dirty="0">
              <a:solidFill>
                <a:srgbClr val="FFFF00"/>
              </a:solidFill>
            </a:endParaRPr>
          </a:p>
        </p:txBody>
      </p:sp>
      <p:sp>
        <p:nvSpPr>
          <p:cNvPr id="8" name="Text 5"/>
          <p:cNvSpPr/>
          <p:nvPr/>
        </p:nvSpPr>
        <p:spPr>
          <a:xfrm>
            <a:off x="931406" y="5028337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Rojan Chandra Poudel</a:t>
            </a:r>
            <a:endParaRPr lang="en-US" sz="2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482254" y="285844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1168054" y="310896"/>
            <a:ext cx="95399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Overview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35613" y="1299326"/>
            <a:ext cx="3483864" cy="266917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1E6F5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804672" y="1581912"/>
            <a:ext cx="566928" cy="566928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9396" y="1706636"/>
            <a:ext cx="317480" cy="3174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04672" y="2258568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Purpose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804672" y="2624328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members, books, authors, publishers, physical copies, loans, reservations and fines.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4352544" y="1325880"/>
            <a:ext cx="3483864" cy="262345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1E6F5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8"/>
          <p:cNvSpPr/>
          <p:nvPr/>
        </p:nvSpPr>
        <p:spPr>
          <a:xfrm>
            <a:off x="4608576" y="1581912"/>
            <a:ext cx="566928" cy="566928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3300" y="1706636"/>
            <a:ext cx="317480" cy="3174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08576" y="2258568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Addressed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4608576" y="2624328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Poorly structured or manual records cause duplication, inconsistency and difficult retrieval.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8156448" y="1325880"/>
            <a:ext cx="3483864" cy="262345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1E6F5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2"/>
          <p:cNvSpPr/>
          <p:nvPr/>
        </p:nvSpPr>
        <p:spPr>
          <a:xfrm>
            <a:off x="8412480" y="1581912"/>
            <a:ext cx="566928" cy="566928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37204" y="1706636"/>
            <a:ext cx="317480" cy="31748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412480" y="2258568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Goal</a:t>
            </a:r>
            <a:endParaRPr lang="en-US" sz="1600" dirty="0"/>
          </a:p>
        </p:txBody>
      </p:sp>
      <p:sp>
        <p:nvSpPr>
          <p:cNvPr id="20" name="Text 14"/>
          <p:cNvSpPr/>
          <p:nvPr/>
        </p:nvSpPr>
        <p:spPr>
          <a:xfrm>
            <a:off x="8412480" y="2624328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Reliable, secure and efficient storage and retrieval of library information.</a:t>
            </a:r>
            <a:endParaRPr lang="en-US" sz="1250" dirty="0"/>
          </a:p>
        </p:txBody>
      </p:sp>
      <p:sp>
        <p:nvSpPr>
          <p:cNvPr id="21" name="Text 15"/>
          <p:cNvSpPr/>
          <p:nvPr/>
        </p:nvSpPr>
        <p:spPr>
          <a:xfrm>
            <a:off x="548640" y="417793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Approach</a:t>
            </a:r>
            <a:endParaRPr lang="en-US" sz="1600" dirty="0"/>
          </a:p>
        </p:txBody>
      </p:sp>
      <p:sp>
        <p:nvSpPr>
          <p:cNvPr id="22" name="Shape 16"/>
          <p:cNvSpPr/>
          <p:nvPr/>
        </p:nvSpPr>
        <p:spPr>
          <a:xfrm>
            <a:off x="548640" y="4800600"/>
            <a:ext cx="11091672" cy="15819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1E6F5"/>
            </a:solidFill>
            <a:prstDash val="solid"/>
          </a:ln>
          <a:effectLst>
            <a:outerShdw blurRad="762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17"/>
          <p:cNvSpPr/>
          <p:nvPr/>
        </p:nvSpPr>
        <p:spPr>
          <a:xfrm>
            <a:off x="1676734" y="5156338"/>
            <a:ext cx="640080" cy="64008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17552" y="5297156"/>
            <a:ext cx="358445" cy="358445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018366" y="5904281"/>
            <a:ext cx="19568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EERD</a:t>
            </a:r>
            <a:endParaRPr lang="en-US" sz="1050" dirty="0"/>
          </a:p>
        </p:txBody>
      </p:sp>
      <p:sp>
        <p:nvSpPr>
          <p:cNvPr id="26" name="Shape 19"/>
          <p:cNvSpPr/>
          <p:nvPr/>
        </p:nvSpPr>
        <p:spPr>
          <a:xfrm>
            <a:off x="2371678" y="5421514"/>
            <a:ext cx="1298448" cy="109728"/>
          </a:xfrm>
          <a:prstGeom prst="rightArrow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0"/>
          <p:cNvSpPr/>
          <p:nvPr/>
        </p:nvSpPr>
        <p:spPr>
          <a:xfrm>
            <a:off x="3724990" y="5156338"/>
            <a:ext cx="640080" cy="64008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65808" y="5297156"/>
            <a:ext cx="358445" cy="358445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3066622" y="5869570"/>
            <a:ext cx="19568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Structures</a:t>
            </a:r>
            <a:endParaRPr lang="en-US" sz="1050" dirty="0"/>
          </a:p>
        </p:txBody>
      </p:sp>
      <p:sp>
        <p:nvSpPr>
          <p:cNvPr id="30" name="Shape 22"/>
          <p:cNvSpPr/>
          <p:nvPr/>
        </p:nvSpPr>
        <p:spPr>
          <a:xfrm>
            <a:off x="4419934" y="5421514"/>
            <a:ext cx="1298448" cy="109728"/>
          </a:xfrm>
          <a:prstGeom prst="rightArrow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3"/>
          <p:cNvSpPr/>
          <p:nvPr/>
        </p:nvSpPr>
        <p:spPr>
          <a:xfrm>
            <a:off x="5773246" y="5156338"/>
            <a:ext cx="640080" cy="64008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2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14064" y="5297156"/>
            <a:ext cx="358445" cy="358445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5114878" y="5869570"/>
            <a:ext cx="19568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(3NF)</a:t>
            </a:r>
            <a:endParaRPr lang="en-US" sz="1050" dirty="0"/>
          </a:p>
        </p:txBody>
      </p:sp>
      <p:sp>
        <p:nvSpPr>
          <p:cNvPr id="34" name="Shape 25"/>
          <p:cNvSpPr/>
          <p:nvPr/>
        </p:nvSpPr>
        <p:spPr>
          <a:xfrm>
            <a:off x="6468190" y="5421514"/>
            <a:ext cx="1298448" cy="109728"/>
          </a:xfrm>
          <a:prstGeom prst="rightArrow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26"/>
          <p:cNvSpPr/>
          <p:nvPr/>
        </p:nvSpPr>
        <p:spPr>
          <a:xfrm>
            <a:off x="7821502" y="5156338"/>
            <a:ext cx="640080" cy="64008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6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62320" y="5297156"/>
            <a:ext cx="358445" cy="358445"/>
          </a:xfrm>
          <a:prstGeom prst="rect">
            <a:avLst/>
          </a:prstGeom>
        </p:spPr>
      </p:pic>
      <p:sp>
        <p:nvSpPr>
          <p:cNvPr id="37" name="Text 27"/>
          <p:cNvSpPr/>
          <p:nvPr/>
        </p:nvSpPr>
        <p:spPr>
          <a:xfrm>
            <a:off x="7163134" y="5869570"/>
            <a:ext cx="19568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</a:t>
            </a:r>
            <a:endParaRPr lang="en-US" sz="1050" dirty="0"/>
          </a:p>
        </p:txBody>
      </p:sp>
      <p:sp>
        <p:nvSpPr>
          <p:cNvPr id="38" name="Shape 28"/>
          <p:cNvSpPr/>
          <p:nvPr/>
        </p:nvSpPr>
        <p:spPr>
          <a:xfrm>
            <a:off x="8516446" y="5421514"/>
            <a:ext cx="1298448" cy="109728"/>
          </a:xfrm>
          <a:prstGeom prst="rightArrow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Shape 29"/>
          <p:cNvSpPr/>
          <p:nvPr/>
        </p:nvSpPr>
        <p:spPr>
          <a:xfrm>
            <a:off x="9869758" y="5156338"/>
            <a:ext cx="640080" cy="64008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010576" y="5297156"/>
            <a:ext cx="358445" cy="358445"/>
          </a:xfrm>
          <a:prstGeom prst="rect">
            <a:avLst/>
          </a:prstGeom>
        </p:spPr>
      </p:pic>
      <p:sp>
        <p:nvSpPr>
          <p:cNvPr id="41" name="Text 30"/>
          <p:cNvSpPr/>
          <p:nvPr/>
        </p:nvSpPr>
        <p:spPr>
          <a:xfrm>
            <a:off x="9230931" y="5869570"/>
            <a:ext cx="19568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&amp; NoSQL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Demonstrations</a:t>
            </a:r>
            <a:endParaRPr lang="en-US" sz="10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548640" y="310896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902970" y="310896"/>
            <a:ext cx="95399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Design &amp; Normalisation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98744" y="1509386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614" y="1612256"/>
            <a:ext cx="251460" cy="2514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93104" y="1481954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Crow’s Foot Notation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1193104" y="1783706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EERD uses relationships, keys, cardinality and participation constraints.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598744" y="2588378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614" y="2691248"/>
            <a:ext cx="251460" cy="25146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193104" y="2560946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Many-to-Many Resolved</a:t>
            </a:r>
            <a:endParaRPr lang="en-US" sz="1350" dirty="0"/>
          </a:p>
        </p:txBody>
      </p:sp>
      <p:sp>
        <p:nvSpPr>
          <p:cNvPr id="13" name="Text 8"/>
          <p:cNvSpPr/>
          <p:nvPr/>
        </p:nvSpPr>
        <p:spPr>
          <a:xfrm>
            <a:off x="1193104" y="2862698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BOOK-AUTHOR relationship resolved using the BOOKAUTHOR junction table.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598744" y="366737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614" y="3770240"/>
            <a:ext cx="251460" cy="25146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193104" y="363993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Specialisation</a:t>
            </a:r>
            <a:endParaRPr lang="en-US" sz="1350" dirty="0"/>
          </a:p>
        </p:txBody>
      </p:sp>
      <p:sp>
        <p:nvSpPr>
          <p:cNvPr id="17" name="Text 11"/>
          <p:cNvSpPr/>
          <p:nvPr/>
        </p:nvSpPr>
        <p:spPr>
          <a:xfrm>
            <a:off x="1193104" y="394169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is specialised into STUDENT and STAFF (total, disjoint).</a:t>
            </a:r>
            <a:endParaRPr lang="en-US" sz="1200" dirty="0"/>
          </a:p>
        </p:txBody>
      </p:sp>
      <p:sp>
        <p:nvSpPr>
          <p:cNvPr id="18" name="Shape 12"/>
          <p:cNvSpPr/>
          <p:nvPr/>
        </p:nvSpPr>
        <p:spPr>
          <a:xfrm>
            <a:off x="598744" y="4746362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1614" y="4849232"/>
            <a:ext cx="251460" cy="25146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193104" y="471893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Normalized to 3NF</a:t>
            </a:r>
            <a:endParaRPr lang="en-US" sz="1350" dirty="0"/>
          </a:p>
        </p:txBody>
      </p:sp>
      <p:sp>
        <p:nvSpPr>
          <p:cNvPr id="21" name="Text 14"/>
          <p:cNvSpPr/>
          <p:nvPr/>
        </p:nvSpPr>
        <p:spPr>
          <a:xfrm>
            <a:off x="1181030" y="5068782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 normalized to reduce redundancy and improve consistency.</a:t>
            </a:r>
            <a:endParaRPr lang="en-US" sz="1200" dirty="0"/>
          </a:p>
        </p:txBody>
      </p:sp>
      <p:sp>
        <p:nvSpPr>
          <p:cNvPr id="22" name="Shape 15"/>
          <p:cNvSpPr/>
          <p:nvPr/>
        </p:nvSpPr>
        <p:spPr>
          <a:xfrm>
            <a:off x="4846320" y="1323938"/>
            <a:ext cx="6812280" cy="4649035"/>
          </a:xfrm>
          <a:prstGeom prst="roundRect">
            <a:avLst>
              <a:gd name="adj" fmla="val 1455"/>
            </a:avLst>
          </a:prstGeom>
          <a:solidFill>
            <a:srgbClr val="FFFFFF"/>
          </a:solidFill>
          <a:ln w="12700">
            <a:solidFill>
              <a:srgbClr val="E1E6F5"/>
            </a:solidFill>
            <a:prstDash val="solid"/>
          </a:ln>
          <a:effectLst>
            <a:outerShdw blurRad="762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16"/>
          <p:cNvSpPr/>
          <p:nvPr/>
        </p:nvSpPr>
        <p:spPr>
          <a:xfrm>
            <a:off x="6025065" y="1485900"/>
            <a:ext cx="5652655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Simplified Entity Relationship Structure</a:t>
            </a:r>
            <a:endParaRPr lang="en-US" sz="1300" dirty="0"/>
          </a:p>
        </p:txBody>
      </p:sp>
      <p:sp>
        <p:nvSpPr>
          <p:cNvPr id="24" name="Shape 17"/>
          <p:cNvSpPr/>
          <p:nvPr/>
        </p:nvSpPr>
        <p:spPr>
          <a:xfrm>
            <a:off x="6825164" y="2331720"/>
            <a:ext cx="376152" cy="0"/>
          </a:xfrm>
          <a:prstGeom prst="line">
            <a:avLst/>
          </a:prstGeom>
          <a:noFill/>
          <a:ln w="19050">
            <a:solidFill>
              <a:srgbClr val="9AA9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18"/>
          <p:cNvSpPr/>
          <p:nvPr/>
        </p:nvSpPr>
        <p:spPr>
          <a:xfrm flipV="1">
            <a:off x="7988947" y="2302346"/>
            <a:ext cx="322118" cy="0"/>
          </a:xfrm>
          <a:prstGeom prst="line">
            <a:avLst/>
          </a:prstGeom>
          <a:noFill/>
          <a:ln w="19050">
            <a:solidFill>
              <a:srgbClr val="9AA9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19"/>
          <p:cNvSpPr/>
          <p:nvPr/>
        </p:nvSpPr>
        <p:spPr>
          <a:xfrm flipV="1">
            <a:off x="9391720" y="1636776"/>
            <a:ext cx="484216" cy="573786"/>
          </a:xfrm>
          <a:prstGeom prst="line">
            <a:avLst/>
          </a:prstGeom>
          <a:noFill/>
          <a:ln w="19050">
            <a:solidFill>
              <a:srgbClr val="9AA9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0"/>
          <p:cNvSpPr/>
          <p:nvPr/>
        </p:nvSpPr>
        <p:spPr>
          <a:xfrm>
            <a:off x="9391720" y="2361438"/>
            <a:ext cx="477981" cy="546354"/>
          </a:xfrm>
          <a:prstGeom prst="line">
            <a:avLst/>
          </a:prstGeom>
          <a:noFill/>
          <a:ln w="19050">
            <a:solidFill>
              <a:srgbClr val="9AA9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1"/>
          <p:cNvSpPr/>
          <p:nvPr/>
        </p:nvSpPr>
        <p:spPr>
          <a:xfrm>
            <a:off x="8851434" y="2478024"/>
            <a:ext cx="831" cy="653796"/>
          </a:xfrm>
          <a:prstGeom prst="line">
            <a:avLst/>
          </a:prstGeom>
          <a:noFill/>
          <a:ln w="19050">
            <a:solidFill>
              <a:srgbClr val="9AA9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2"/>
          <p:cNvSpPr/>
          <p:nvPr/>
        </p:nvSpPr>
        <p:spPr>
          <a:xfrm>
            <a:off x="8851434" y="3529584"/>
            <a:ext cx="831" cy="653796"/>
          </a:xfrm>
          <a:prstGeom prst="line">
            <a:avLst/>
          </a:prstGeom>
          <a:noFill/>
          <a:ln w="19050">
            <a:solidFill>
              <a:srgbClr val="9AA9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3"/>
          <p:cNvSpPr/>
          <p:nvPr/>
        </p:nvSpPr>
        <p:spPr>
          <a:xfrm flipH="1">
            <a:off x="7427838" y="4382217"/>
            <a:ext cx="789709" cy="1005"/>
          </a:xfrm>
          <a:prstGeom prst="line">
            <a:avLst/>
          </a:prstGeom>
          <a:noFill/>
          <a:ln w="19050">
            <a:solidFill>
              <a:srgbClr val="9AA9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4"/>
          <p:cNvSpPr/>
          <p:nvPr/>
        </p:nvSpPr>
        <p:spPr>
          <a:xfrm>
            <a:off x="8851434" y="4581144"/>
            <a:ext cx="831" cy="653796"/>
          </a:xfrm>
          <a:prstGeom prst="line">
            <a:avLst/>
          </a:prstGeom>
          <a:noFill/>
          <a:ln w="19050">
            <a:solidFill>
              <a:srgbClr val="9AA9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25"/>
          <p:cNvSpPr/>
          <p:nvPr/>
        </p:nvSpPr>
        <p:spPr>
          <a:xfrm>
            <a:off x="7334320" y="4381303"/>
            <a:ext cx="2522496" cy="1920"/>
          </a:xfrm>
          <a:prstGeom prst="line">
            <a:avLst/>
          </a:prstGeom>
          <a:noFill/>
          <a:ln w="19050">
            <a:solidFill>
              <a:srgbClr val="9AA9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26"/>
          <p:cNvSpPr/>
          <p:nvPr/>
        </p:nvSpPr>
        <p:spPr>
          <a:xfrm flipH="1">
            <a:off x="6037534" y="4581144"/>
            <a:ext cx="415636" cy="653796"/>
          </a:xfrm>
          <a:prstGeom prst="line">
            <a:avLst/>
          </a:prstGeom>
          <a:noFill/>
          <a:ln w="19050">
            <a:solidFill>
              <a:srgbClr val="9AA9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27"/>
          <p:cNvSpPr/>
          <p:nvPr/>
        </p:nvSpPr>
        <p:spPr>
          <a:xfrm>
            <a:off x="7118189" y="4581144"/>
            <a:ext cx="83127" cy="653796"/>
          </a:xfrm>
          <a:prstGeom prst="line">
            <a:avLst/>
          </a:prstGeom>
          <a:noFill/>
          <a:ln w="19050">
            <a:solidFill>
              <a:srgbClr val="9AA9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28"/>
          <p:cNvSpPr/>
          <p:nvPr/>
        </p:nvSpPr>
        <p:spPr>
          <a:xfrm>
            <a:off x="5796465" y="2027682"/>
            <a:ext cx="1080655" cy="502920"/>
          </a:xfrm>
          <a:prstGeom prst="roundRect">
            <a:avLst>
              <a:gd name="adj" fmla="val 12000"/>
            </a:avLst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29"/>
          <p:cNvSpPr/>
          <p:nvPr/>
        </p:nvSpPr>
        <p:spPr>
          <a:xfrm>
            <a:off x="5796465" y="2027682"/>
            <a:ext cx="10806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</a:t>
            </a:r>
            <a:endParaRPr lang="en-US" sz="1050" dirty="0"/>
          </a:p>
        </p:txBody>
      </p:sp>
      <p:sp>
        <p:nvSpPr>
          <p:cNvPr id="37" name="Shape 30"/>
          <p:cNvSpPr/>
          <p:nvPr/>
        </p:nvSpPr>
        <p:spPr>
          <a:xfrm>
            <a:off x="7199238" y="2123694"/>
            <a:ext cx="789709" cy="402336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1"/>
          <p:cNvSpPr/>
          <p:nvPr/>
        </p:nvSpPr>
        <p:spPr>
          <a:xfrm>
            <a:off x="7199238" y="2123694"/>
            <a:ext cx="78970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BOOKAUTHOR</a:t>
            </a:r>
            <a:endParaRPr lang="en-US" sz="850" dirty="0"/>
          </a:p>
        </p:txBody>
      </p:sp>
      <p:sp>
        <p:nvSpPr>
          <p:cNvPr id="39" name="Shape 32"/>
          <p:cNvSpPr/>
          <p:nvPr/>
        </p:nvSpPr>
        <p:spPr>
          <a:xfrm>
            <a:off x="8311065" y="2027682"/>
            <a:ext cx="1080655" cy="502920"/>
          </a:xfrm>
          <a:prstGeom prst="roundRect">
            <a:avLst>
              <a:gd name="adj" fmla="val 12000"/>
            </a:avLst>
          </a:prstGeom>
          <a:solidFill>
            <a:srgbClr val="C9A227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3"/>
          <p:cNvSpPr/>
          <p:nvPr/>
        </p:nvSpPr>
        <p:spPr>
          <a:xfrm>
            <a:off x="8311065" y="2027682"/>
            <a:ext cx="10806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</a:t>
            </a:r>
            <a:endParaRPr lang="en-US" sz="1050" dirty="0"/>
          </a:p>
        </p:txBody>
      </p:sp>
      <p:sp>
        <p:nvSpPr>
          <p:cNvPr id="41" name="Shape 34"/>
          <p:cNvSpPr/>
          <p:nvPr/>
        </p:nvSpPr>
        <p:spPr>
          <a:xfrm>
            <a:off x="9869701" y="1479042"/>
            <a:ext cx="1163782" cy="502920"/>
          </a:xfrm>
          <a:prstGeom prst="roundRect">
            <a:avLst>
              <a:gd name="adj" fmla="val 12000"/>
            </a:avLst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35"/>
          <p:cNvSpPr/>
          <p:nvPr/>
        </p:nvSpPr>
        <p:spPr>
          <a:xfrm>
            <a:off x="9869701" y="1479042"/>
            <a:ext cx="116378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PUBLISHER</a:t>
            </a:r>
            <a:endParaRPr lang="en-US" sz="1050" dirty="0"/>
          </a:p>
        </p:txBody>
      </p:sp>
      <p:sp>
        <p:nvSpPr>
          <p:cNvPr id="43" name="Shape 36"/>
          <p:cNvSpPr/>
          <p:nvPr/>
        </p:nvSpPr>
        <p:spPr>
          <a:xfrm>
            <a:off x="9869701" y="2576322"/>
            <a:ext cx="1163782" cy="502920"/>
          </a:xfrm>
          <a:prstGeom prst="roundRect">
            <a:avLst>
              <a:gd name="adj" fmla="val 12000"/>
            </a:avLst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37"/>
          <p:cNvSpPr/>
          <p:nvPr/>
        </p:nvSpPr>
        <p:spPr>
          <a:xfrm>
            <a:off x="9869701" y="2576322"/>
            <a:ext cx="116378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1050" dirty="0"/>
          </a:p>
        </p:txBody>
      </p:sp>
      <p:sp>
        <p:nvSpPr>
          <p:cNvPr id="45" name="Shape 38"/>
          <p:cNvSpPr/>
          <p:nvPr/>
        </p:nvSpPr>
        <p:spPr>
          <a:xfrm>
            <a:off x="8311065" y="3079242"/>
            <a:ext cx="1080655" cy="502920"/>
          </a:xfrm>
          <a:prstGeom prst="roundRect">
            <a:avLst>
              <a:gd name="adj" fmla="val 12000"/>
            </a:avLst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39"/>
          <p:cNvSpPr/>
          <p:nvPr/>
        </p:nvSpPr>
        <p:spPr>
          <a:xfrm>
            <a:off x="8311065" y="3079242"/>
            <a:ext cx="10806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BOOKCOPY</a:t>
            </a:r>
            <a:endParaRPr lang="en-US" sz="1050" dirty="0"/>
          </a:p>
        </p:txBody>
      </p:sp>
      <p:sp>
        <p:nvSpPr>
          <p:cNvPr id="47" name="Shape 40"/>
          <p:cNvSpPr/>
          <p:nvPr/>
        </p:nvSpPr>
        <p:spPr>
          <a:xfrm>
            <a:off x="8311065" y="4130802"/>
            <a:ext cx="1080655" cy="502920"/>
          </a:xfrm>
          <a:prstGeom prst="roundRect">
            <a:avLst>
              <a:gd name="adj" fmla="val 12000"/>
            </a:avLst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1"/>
          <p:cNvSpPr/>
          <p:nvPr/>
        </p:nvSpPr>
        <p:spPr>
          <a:xfrm>
            <a:off x="8311065" y="4130802"/>
            <a:ext cx="10806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</a:t>
            </a:r>
            <a:endParaRPr lang="en-US" sz="1050" dirty="0"/>
          </a:p>
        </p:txBody>
      </p:sp>
      <p:sp>
        <p:nvSpPr>
          <p:cNvPr id="49" name="Shape 42"/>
          <p:cNvSpPr/>
          <p:nvPr/>
        </p:nvSpPr>
        <p:spPr>
          <a:xfrm>
            <a:off x="6253665" y="4130802"/>
            <a:ext cx="1080655" cy="502920"/>
          </a:xfrm>
          <a:prstGeom prst="roundRect">
            <a:avLst>
              <a:gd name="adj" fmla="val 12000"/>
            </a:avLst>
          </a:prstGeom>
          <a:solidFill>
            <a:srgbClr val="C9A227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3"/>
          <p:cNvSpPr/>
          <p:nvPr/>
        </p:nvSpPr>
        <p:spPr>
          <a:xfrm>
            <a:off x="6253665" y="4130802"/>
            <a:ext cx="10806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</a:t>
            </a:r>
            <a:endParaRPr lang="en-US" sz="1050" dirty="0"/>
          </a:p>
        </p:txBody>
      </p:sp>
      <p:sp>
        <p:nvSpPr>
          <p:cNvPr id="51" name="Shape 44"/>
          <p:cNvSpPr/>
          <p:nvPr/>
        </p:nvSpPr>
        <p:spPr>
          <a:xfrm>
            <a:off x="5463540" y="5215431"/>
            <a:ext cx="105156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45"/>
          <p:cNvSpPr/>
          <p:nvPr/>
        </p:nvSpPr>
        <p:spPr>
          <a:xfrm>
            <a:off x="5515284" y="5182362"/>
            <a:ext cx="9559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000" dirty="0"/>
          </a:p>
        </p:txBody>
      </p:sp>
      <p:sp>
        <p:nvSpPr>
          <p:cNvPr id="53" name="Shape 46"/>
          <p:cNvSpPr/>
          <p:nvPr/>
        </p:nvSpPr>
        <p:spPr>
          <a:xfrm>
            <a:off x="6750350" y="5182362"/>
            <a:ext cx="955964" cy="5029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47"/>
          <p:cNvSpPr/>
          <p:nvPr/>
        </p:nvSpPr>
        <p:spPr>
          <a:xfrm>
            <a:off x="6750350" y="5182362"/>
            <a:ext cx="9559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</a:t>
            </a:r>
            <a:endParaRPr lang="en-US" sz="1000" dirty="0"/>
          </a:p>
        </p:txBody>
      </p:sp>
      <p:sp>
        <p:nvSpPr>
          <p:cNvPr id="55" name="Shape 48"/>
          <p:cNvSpPr/>
          <p:nvPr/>
        </p:nvSpPr>
        <p:spPr>
          <a:xfrm>
            <a:off x="9875936" y="4130802"/>
            <a:ext cx="1288473" cy="502920"/>
          </a:xfrm>
          <a:prstGeom prst="roundRect">
            <a:avLst>
              <a:gd name="adj" fmla="val 12000"/>
            </a:avLst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49"/>
          <p:cNvSpPr/>
          <p:nvPr/>
        </p:nvSpPr>
        <p:spPr>
          <a:xfrm>
            <a:off x="9875936" y="4130802"/>
            <a:ext cx="128847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RESERVATION</a:t>
            </a:r>
            <a:endParaRPr lang="en-US" sz="950" dirty="0"/>
          </a:p>
        </p:txBody>
      </p:sp>
      <p:sp>
        <p:nvSpPr>
          <p:cNvPr id="57" name="Shape 50"/>
          <p:cNvSpPr/>
          <p:nvPr/>
        </p:nvSpPr>
        <p:spPr>
          <a:xfrm>
            <a:off x="8311065" y="5182362"/>
            <a:ext cx="1080655" cy="502920"/>
          </a:xfrm>
          <a:prstGeom prst="roundRect">
            <a:avLst>
              <a:gd name="adj" fmla="val 12000"/>
            </a:avLst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1"/>
          <p:cNvSpPr/>
          <p:nvPr/>
        </p:nvSpPr>
        <p:spPr>
          <a:xfrm>
            <a:off x="8311065" y="5182362"/>
            <a:ext cx="10806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</a:t>
            </a:r>
            <a:endParaRPr lang="en-US" sz="10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557410" y="310896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1243210" y="310896"/>
            <a:ext cx="95399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Server Implementation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48640" y="1417320"/>
            <a:ext cx="53949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1E6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713232" y="1554480"/>
            <a:ext cx="685800" cy="68580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4682" y="1725930"/>
            <a:ext cx="342900" cy="3429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554480" y="150876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LibraryManagementDB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1554480" y="1819656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using Microsoft SQL Server and SSMS.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548640" y="2560320"/>
            <a:ext cx="53949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1E6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8"/>
          <p:cNvSpPr/>
          <p:nvPr/>
        </p:nvSpPr>
        <p:spPr>
          <a:xfrm>
            <a:off x="713232" y="2697480"/>
            <a:ext cx="685800" cy="68580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4682" y="2868930"/>
            <a:ext cx="342900" cy="3429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554480" y="265176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Primary &amp; Foreign Keys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1554480" y="2962656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Uniquely identify records; foreign keys enforce referential integrity.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548640" y="3703320"/>
            <a:ext cx="53949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1E6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2"/>
          <p:cNvSpPr/>
          <p:nvPr/>
        </p:nvSpPr>
        <p:spPr>
          <a:xfrm>
            <a:off x="713232" y="3840480"/>
            <a:ext cx="685800" cy="68580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4682" y="4011930"/>
            <a:ext cx="342900" cy="34290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554480" y="379476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Integrity Constraints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1554480" y="4105656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NULL and UNIQUE constraints support data quality.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548640" y="4846320"/>
            <a:ext cx="53949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1E6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6"/>
          <p:cNvSpPr/>
          <p:nvPr/>
        </p:nvSpPr>
        <p:spPr>
          <a:xfrm>
            <a:off x="713232" y="4983480"/>
            <a:ext cx="685800" cy="68580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4682" y="5154930"/>
            <a:ext cx="342900" cy="34290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554480" y="493776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Sample Data</a:t>
            </a:r>
            <a:endParaRPr lang="en-US" sz="1400" dirty="0"/>
          </a:p>
        </p:txBody>
      </p:sp>
      <p:sp>
        <p:nvSpPr>
          <p:cNvPr id="25" name="Text 18"/>
          <p:cNvSpPr/>
          <p:nvPr/>
        </p:nvSpPr>
        <p:spPr>
          <a:xfrm>
            <a:off x="1554480" y="5248656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records inserted; a minimum of five records required per table.</a:t>
            </a:r>
            <a:endParaRPr lang="en-US" sz="1200" dirty="0"/>
          </a:p>
        </p:txBody>
      </p:sp>
      <p:sp>
        <p:nvSpPr>
          <p:cNvPr id="26" name="Text 19"/>
          <p:cNvSpPr/>
          <p:nvPr/>
        </p:nvSpPr>
        <p:spPr>
          <a:xfrm>
            <a:off x="6263640" y="137160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Queries Demonstrated</a:t>
            </a:r>
            <a:endParaRPr lang="en-US" sz="1600" dirty="0"/>
          </a:p>
        </p:txBody>
      </p:sp>
      <p:sp>
        <p:nvSpPr>
          <p:cNvPr id="27" name="Shape 20"/>
          <p:cNvSpPr/>
          <p:nvPr/>
        </p:nvSpPr>
        <p:spPr>
          <a:xfrm>
            <a:off x="6263640" y="1874520"/>
            <a:ext cx="2583180" cy="1051560"/>
          </a:xfrm>
          <a:prstGeom prst="roundRect">
            <a:avLst>
              <a:gd name="adj" fmla="val 7826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1"/>
          <p:cNvSpPr/>
          <p:nvPr/>
        </p:nvSpPr>
        <p:spPr>
          <a:xfrm>
            <a:off x="6263640" y="1874520"/>
            <a:ext cx="25831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ORDER BY</a:t>
            </a:r>
            <a:endParaRPr lang="en-US" sz="1500" dirty="0"/>
          </a:p>
        </p:txBody>
      </p:sp>
      <p:sp>
        <p:nvSpPr>
          <p:cNvPr id="29" name="Shape 22"/>
          <p:cNvSpPr/>
          <p:nvPr/>
        </p:nvSpPr>
        <p:spPr>
          <a:xfrm>
            <a:off x="9075420" y="1874520"/>
            <a:ext cx="2583180" cy="1051560"/>
          </a:xfrm>
          <a:prstGeom prst="roundRect">
            <a:avLst>
              <a:gd name="adj" fmla="val 7826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3"/>
          <p:cNvSpPr/>
          <p:nvPr/>
        </p:nvSpPr>
        <p:spPr>
          <a:xfrm>
            <a:off x="9075420" y="1874520"/>
            <a:ext cx="25831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LIKE</a:t>
            </a:r>
            <a:endParaRPr lang="en-US" sz="1500" dirty="0"/>
          </a:p>
        </p:txBody>
      </p:sp>
      <p:sp>
        <p:nvSpPr>
          <p:cNvPr id="31" name="Shape 24"/>
          <p:cNvSpPr/>
          <p:nvPr/>
        </p:nvSpPr>
        <p:spPr>
          <a:xfrm>
            <a:off x="6263640" y="3154680"/>
            <a:ext cx="2583180" cy="1051560"/>
          </a:xfrm>
          <a:prstGeom prst="roundRect">
            <a:avLst>
              <a:gd name="adj" fmla="val 7826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25"/>
          <p:cNvSpPr/>
          <p:nvPr/>
        </p:nvSpPr>
        <p:spPr>
          <a:xfrm>
            <a:off x="6263640" y="3154680"/>
            <a:ext cx="25831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Aggregate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Functions</a:t>
            </a:r>
            <a:endParaRPr lang="en-US" sz="1500" dirty="0"/>
          </a:p>
        </p:txBody>
      </p:sp>
      <p:sp>
        <p:nvSpPr>
          <p:cNvPr id="33" name="Shape 26"/>
          <p:cNvSpPr/>
          <p:nvPr/>
        </p:nvSpPr>
        <p:spPr>
          <a:xfrm>
            <a:off x="9075420" y="3154680"/>
            <a:ext cx="2583180" cy="1051560"/>
          </a:xfrm>
          <a:prstGeom prst="roundRect">
            <a:avLst>
              <a:gd name="adj" fmla="val 7826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27"/>
          <p:cNvSpPr/>
          <p:nvPr/>
        </p:nvSpPr>
        <p:spPr>
          <a:xfrm>
            <a:off x="9075420" y="3154680"/>
            <a:ext cx="25831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BETWEEN</a:t>
            </a:r>
            <a:endParaRPr lang="en-US" sz="1500" dirty="0"/>
          </a:p>
        </p:txBody>
      </p:sp>
      <p:sp>
        <p:nvSpPr>
          <p:cNvPr id="35" name="Shape 28"/>
          <p:cNvSpPr/>
          <p:nvPr/>
        </p:nvSpPr>
        <p:spPr>
          <a:xfrm>
            <a:off x="6263640" y="4434840"/>
            <a:ext cx="2583180" cy="1051560"/>
          </a:xfrm>
          <a:prstGeom prst="roundRect">
            <a:avLst>
              <a:gd name="adj" fmla="val 7826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29"/>
          <p:cNvSpPr/>
          <p:nvPr/>
        </p:nvSpPr>
        <p:spPr>
          <a:xfrm>
            <a:off x="6263640" y="4434840"/>
            <a:ext cx="25831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JOIN</a:t>
            </a:r>
            <a:endParaRPr lang="en-US" sz="1500" dirty="0"/>
          </a:p>
        </p:txBody>
      </p:sp>
      <p:sp>
        <p:nvSpPr>
          <p:cNvPr id="37" name="Shape 30"/>
          <p:cNvSpPr/>
          <p:nvPr/>
        </p:nvSpPr>
        <p:spPr>
          <a:xfrm>
            <a:off x="9075420" y="4434840"/>
            <a:ext cx="2583180" cy="1051560"/>
          </a:xfrm>
          <a:prstGeom prst="roundRect">
            <a:avLst>
              <a:gd name="adj" fmla="val 7826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1"/>
          <p:cNvSpPr/>
          <p:nvPr/>
        </p:nvSpPr>
        <p:spPr>
          <a:xfrm>
            <a:off x="9075420" y="4434840"/>
            <a:ext cx="25831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UPDATE</a:t>
            </a:r>
            <a:endParaRPr lang="en-US" sz="15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594988" y="310896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1280788" y="285844"/>
            <a:ext cx="95399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NoSQL &amp; Database Administration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48640" y="1346548"/>
            <a:ext cx="5349240" cy="4892040"/>
          </a:xfrm>
          <a:prstGeom prst="roundRect">
            <a:avLst>
              <a:gd name="adj" fmla="val 1869"/>
            </a:avLst>
          </a:prstGeom>
          <a:solidFill>
            <a:srgbClr val="FFFFFF"/>
          </a:solidFill>
          <a:ln w="12700">
            <a:solidFill>
              <a:srgbClr val="E1E6F5"/>
            </a:solidFill>
            <a:prstDash val="solid"/>
          </a:ln>
          <a:effectLst>
            <a:outerShdw blurRad="762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822960" y="1627632"/>
            <a:ext cx="548640" cy="54864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6404" y="1751076"/>
            <a:ext cx="301752" cy="30175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508760" y="164592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NoSQL - MongoDB Compass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822960" y="2798314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6117" y="2911471"/>
            <a:ext cx="276606" cy="27660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463040" y="2752594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Assi5GroupNo  →  Assignment</a:t>
            </a:r>
            <a:endParaRPr lang="en-US" sz="1400" dirty="0"/>
          </a:p>
        </p:txBody>
      </p:sp>
      <p:sp>
        <p:nvSpPr>
          <p:cNvPr id="13" name="Text 8"/>
          <p:cNvSpPr/>
          <p:nvPr/>
        </p:nvSpPr>
        <p:spPr>
          <a:xfrm>
            <a:off x="1463040" y="3093302"/>
            <a:ext cx="4160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and collection used for the NoSQL component.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822960" y="3931920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6117" y="4045077"/>
            <a:ext cx="276606" cy="276606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463040" y="388620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Book Documents</a:t>
            </a:r>
            <a:endParaRPr lang="en-US" sz="1400" dirty="0"/>
          </a:p>
        </p:txBody>
      </p:sp>
      <p:sp>
        <p:nvSpPr>
          <p:cNvPr id="17" name="Text 11"/>
          <p:cNvSpPr/>
          <p:nvPr/>
        </p:nvSpPr>
        <p:spPr>
          <a:xfrm>
            <a:off x="1463040" y="4251960"/>
            <a:ext cx="4160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 document-based data management.</a:t>
            </a:r>
            <a:endParaRPr lang="en-US" sz="1200" dirty="0"/>
          </a:p>
        </p:txBody>
      </p:sp>
      <p:sp>
        <p:nvSpPr>
          <p:cNvPr id="18" name="Shape 12"/>
          <p:cNvSpPr/>
          <p:nvPr/>
        </p:nvSpPr>
        <p:spPr>
          <a:xfrm>
            <a:off x="810707" y="4952792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6117" y="5065949"/>
            <a:ext cx="276606" cy="276606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463040" y="4907072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Queries</a:t>
            </a:r>
            <a:endParaRPr lang="en-US" sz="1400" dirty="0"/>
          </a:p>
        </p:txBody>
      </p:sp>
      <p:sp>
        <p:nvSpPr>
          <p:cNvPr id="21" name="Text 14"/>
          <p:cNvSpPr/>
          <p:nvPr/>
        </p:nvSpPr>
        <p:spPr>
          <a:xfrm>
            <a:off x="1463040" y="5272832"/>
            <a:ext cx="4160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all documents, filter by CategoryID, and compare using $gt.</a:t>
            </a:r>
            <a:endParaRPr lang="en-US" sz="1200" dirty="0"/>
          </a:p>
        </p:txBody>
      </p:sp>
      <p:sp>
        <p:nvSpPr>
          <p:cNvPr id="22" name="Shape 15"/>
          <p:cNvSpPr/>
          <p:nvPr/>
        </p:nvSpPr>
        <p:spPr>
          <a:xfrm>
            <a:off x="6263640" y="1371600"/>
            <a:ext cx="5349240" cy="4892040"/>
          </a:xfrm>
          <a:prstGeom prst="roundRect">
            <a:avLst>
              <a:gd name="adj" fmla="val 1869"/>
            </a:avLst>
          </a:prstGeom>
          <a:solidFill>
            <a:srgbClr val="FFFFFF"/>
          </a:solidFill>
          <a:ln w="12700">
            <a:solidFill>
              <a:srgbClr val="E1E6F5"/>
            </a:solidFill>
            <a:prstDash val="solid"/>
          </a:ln>
          <a:effectLst>
            <a:outerShdw blurRad="762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16"/>
          <p:cNvSpPr/>
          <p:nvPr/>
        </p:nvSpPr>
        <p:spPr>
          <a:xfrm>
            <a:off x="6537960" y="1627632"/>
            <a:ext cx="548640" cy="54864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61404" y="1751076"/>
            <a:ext cx="301752" cy="301752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7223760" y="164592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Administration</a:t>
            </a:r>
            <a:endParaRPr lang="en-US" sz="1600" dirty="0"/>
          </a:p>
        </p:txBody>
      </p:sp>
      <p:sp>
        <p:nvSpPr>
          <p:cNvPr id="26" name="Shape 18"/>
          <p:cNvSpPr/>
          <p:nvPr/>
        </p:nvSpPr>
        <p:spPr>
          <a:xfrm>
            <a:off x="6537960" y="2748210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7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51117" y="2861367"/>
            <a:ext cx="276606" cy="276606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7178040" y="270249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Transactions &amp; Concurrency Control</a:t>
            </a:r>
            <a:endParaRPr lang="en-US" sz="1400" dirty="0"/>
          </a:p>
        </p:txBody>
      </p:sp>
      <p:sp>
        <p:nvSpPr>
          <p:cNvPr id="29" name="Text 20"/>
          <p:cNvSpPr/>
          <p:nvPr/>
        </p:nvSpPr>
        <p:spPr>
          <a:xfrm>
            <a:off x="7178040" y="3068250"/>
            <a:ext cx="4160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 conflicts, e.g., two members borrowing the same copy.</a:t>
            </a:r>
            <a:endParaRPr lang="en-US" sz="1200" dirty="0"/>
          </a:p>
        </p:txBody>
      </p:sp>
      <p:sp>
        <p:nvSpPr>
          <p:cNvPr id="30" name="Shape 21"/>
          <p:cNvSpPr/>
          <p:nvPr/>
        </p:nvSpPr>
        <p:spPr>
          <a:xfrm>
            <a:off x="6537960" y="3931920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1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51117" y="4045077"/>
            <a:ext cx="276606" cy="276606"/>
          </a:xfrm>
          <a:prstGeom prst="rect">
            <a:avLst/>
          </a:prstGeom>
        </p:spPr>
      </p:pic>
      <p:sp>
        <p:nvSpPr>
          <p:cNvPr id="32" name="Text 22"/>
          <p:cNvSpPr/>
          <p:nvPr/>
        </p:nvSpPr>
        <p:spPr>
          <a:xfrm>
            <a:off x="7178040" y="388620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Access Control</a:t>
            </a:r>
            <a:endParaRPr lang="en-US" sz="1400" dirty="0"/>
          </a:p>
        </p:txBody>
      </p:sp>
      <p:sp>
        <p:nvSpPr>
          <p:cNvPr id="33" name="Text 23"/>
          <p:cNvSpPr/>
          <p:nvPr/>
        </p:nvSpPr>
        <p:spPr>
          <a:xfrm>
            <a:off x="7178040" y="4251960"/>
            <a:ext cx="4160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Restricts and secures data access.</a:t>
            </a:r>
            <a:endParaRPr lang="en-US" sz="1200" dirty="0"/>
          </a:p>
        </p:txBody>
      </p:sp>
      <p:sp>
        <p:nvSpPr>
          <p:cNvPr id="34" name="Shape 24"/>
          <p:cNvSpPr/>
          <p:nvPr/>
        </p:nvSpPr>
        <p:spPr>
          <a:xfrm>
            <a:off x="6537960" y="4990370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5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51117" y="5103527"/>
            <a:ext cx="276606" cy="276606"/>
          </a:xfrm>
          <a:prstGeom prst="rect">
            <a:avLst/>
          </a:prstGeom>
        </p:spPr>
      </p:pic>
      <p:sp>
        <p:nvSpPr>
          <p:cNvPr id="36" name="Text 25"/>
          <p:cNvSpPr/>
          <p:nvPr/>
        </p:nvSpPr>
        <p:spPr>
          <a:xfrm>
            <a:off x="7178040" y="494465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Backup, Recovery &amp; Performance</a:t>
            </a:r>
            <a:endParaRPr lang="en-US" sz="1400" dirty="0"/>
          </a:p>
        </p:txBody>
      </p:sp>
      <p:sp>
        <p:nvSpPr>
          <p:cNvPr id="37" name="Text 26"/>
          <p:cNvSpPr/>
          <p:nvPr/>
        </p:nvSpPr>
        <p:spPr>
          <a:xfrm>
            <a:off x="7178040" y="5310410"/>
            <a:ext cx="4160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 queries support reliability and performance.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/>
          <p:cNvSpPr/>
          <p:nvPr/>
        </p:nvSpPr>
        <p:spPr>
          <a:xfrm>
            <a:off x="645092" y="310896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1330892" y="310896"/>
            <a:ext cx="95399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Key Findings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792328" y="1234440"/>
            <a:ext cx="3291840" cy="1234440"/>
          </a:xfrm>
          <a:prstGeom prst="roundRect">
            <a:avLst>
              <a:gd name="adj" fmla="val 7407"/>
            </a:avLst>
          </a:prstGeom>
          <a:solidFill>
            <a:srgbClr val="2A357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975208" y="1325880"/>
            <a:ext cx="1188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3NF</a:t>
            </a:r>
            <a:endParaRPr lang="en-US" sz="3400" dirty="0"/>
          </a:p>
        </p:txBody>
      </p:sp>
      <p:sp>
        <p:nvSpPr>
          <p:cNvPr id="9" name="Text 6"/>
          <p:cNvSpPr/>
          <p:nvPr/>
        </p:nvSpPr>
        <p:spPr>
          <a:xfrm>
            <a:off x="2163928" y="1234440"/>
            <a:ext cx="1737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Normalized</a:t>
            </a:r>
            <a:endParaRPr lang="en-US" sz="1250" dirty="0"/>
          </a:p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449928" y="1234440"/>
            <a:ext cx="3291840" cy="1234440"/>
          </a:xfrm>
          <a:prstGeom prst="roundRect">
            <a:avLst>
              <a:gd name="adj" fmla="val 7407"/>
            </a:avLst>
          </a:prstGeom>
          <a:solidFill>
            <a:srgbClr val="2A357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4632808" y="1325880"/>
            <a:ext cx="1188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3400" dirty="0"/>
          </a:p>
        </p:txBody>
      </p:sp>
      <p:sp>
        <p:nvSpPr>
          <p:cNvPr id="12" name="Text 9"/>
          <p:cNvSpPr/>
          <p:nvPr/>
        </p:nvSpPr>
        <p:spPr>
          <a:xfrm>
            <a:off x="5821528" y="1234440"/>
            <a:ext cx="1737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Relations</a:t>
            </a:r>
            <a:endParaRPr lang="en-US" sz="1250" dirty="0"/>
          </a:p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Modeled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8107528" y="1234440"/>
            <a:ext cx="3291840" cy="1234440"/>
          </a:xfrm>
          <a:prstGeom prst="roundRect">
            <a:avLst>
              <a:gd name="adj" fmla="val 7407"/>
            </a:avLst>
          </a:prstGeom>
          <a:solidFill>
            <a:srgbClr val="2A357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8290408" y="1325880"/>
            <a:ext cx="1188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400" dirty="0"/>
          </a:p>
        </p:txBody>
      </p:sp>
      <p:sp>
        <p:nvSpPr>
          <p:cNvPr id="15" name="Text 12"/>
          <p:cNvSpPr/>
          <p:nvPr/>
        </p:nvSpPr>
        <p:spPr>
          <a:xfrm>
            <a:off x="9479128" y="1234440"/>
            <a:ext cx="1737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+ NoSQL</a:t>
            </a:r>
            <a:endParaRPr lang="en-US" sz="1250" dirty="0"/>
          </a:p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640080" y="2880360"/>
            <a:ext cx="329184" cy="329184"/>
          </a:xfrm>
          <a:prstGeom prst="ellipse">
            <a:avLst/>
          </a:prstGeom>
          <a:solidFill>
            <a:srgbClr val="2A357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917" y="2946197"/>
            <a:ext cx="197510" cy="19751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143000" y="2807208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core database design concepts to a practical Library Management scenario — connecting members, books, authors, publishers, copies, loans, reservations and fines.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640080" y="3538728"/>
            <a:ext cx="329184" cy="329184"/>
          </a:xfrm>
          <a:prstGeom prst="ellipse">
            <a:avLst/>
          </a:prstGeom>
          <a:solidFill>
            <a:srgbClr val="2A357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917" y="3604565"/>
            <a:ext cx="197510" cy="19751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143000" y="3465576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3NF normalization reduces unnecessary redundancy, while keys and constraints maintain data integrity.</a:t>
            </a:r>
            <a:endParaRPr lang="en-US" sz="1300" dirty="0"/>
          </a:p>
        </p:txBody>
      </p:sp>
      <p:sp>
        <p:nvSpPr>
          <p:cNvPr id="22" name="Shape 17"/>
          <p:cNvSpPr/>
          <p:nvPr/>
        </p:nvSpPr>
        <p:spPr>
          <a:xfrm>
            <a:off x="640080" y="4197096"/>
            <a:ext cx="329184" cy="329184"/>
          </a:xfrm>
          <a:prstGeom prst="ellipse">
            <a:avLst/>
          </a:prstGeom>
          <a:solidFill>
            <a:srgbClr val="2A357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917" y="4262933"/>
            <a:ext cx="197510" cy="19751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143000" y="4123944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 and MongoDB together demonstrate both relational and NoSQL approaches.</a:t>
            </a:r>
            <a:endParaRPr lang="en-US" sz="1300" dirty="0"/>
          </a:p>
        </p:txBody>
      </p:sp>
      <p:sp>
        <p:nvSpPr>
          <p:cNvPr id="25" name="Shape 19"/>
          <p:cNvSpPr/>
          <p:nvPr/>
        </p:nvSpPr>
        <p:spPr>
          <a:xfrm>
            <a:off x="640080" y="4855464"/>
            <a:ext cx="329184" cy="329184"/>
          </a:xfrm>
          <a:prstGeom prst="ellipse">
            <a:avLst/>
          </a:prstGeom>
          <a:solidFill>
            <a:srgbClr val="2A357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917" y="4921301"/>
            <a:ext cx="197510" cy="19751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143000" y="4782312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Concurrency control, transaction processing, access control and backup/recovery support a robust, secure system.</a:t>
            </a:r>
            <a:endParaRPr lang="en-US" sz="1300" dirty="0"/>
          </a:p>
        </p:txBody>
      </p:sp>
      <p:sp>
        <p:nvSpPr>
          <p:cNvPr id="28" name="Shape 21"/>
          <p:cNvSpPr/>
          <p:nvPr/>
        </p:nvSpPr>
        <p:spPr>
          <a:xfrm>
            <a:off x="640080" y="5513832"/>
            <a:ext cx="329184" cy="329184"/>
          </a:xfrm>
          <a:prstGeom prst="ellipse">
            <a:avLst/>
          </a:prstGeom>
          <a:solidFill>
            <a:srgbClr val="2A357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9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917" y="5579669"/>
            <a:ext cx="197510" cy="197510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1143000" y="544068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Strengthened practical skills in database modelling, SQL, NoSQL, administration and teamwork.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406</Words>
  <Application>Microsoft Office PowerPoint</Application>
  <PresentationFormat>Widescreen</PresentationFormat>
  <Paragraphs>100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Rojan Chandra Poudel</cp:lastModifiedBy>
  <cp:revision>5</cp:revision>
  <dcterms:created xsi:type="dcterms:W3CDTF">2026-09-10T19:35:35Z</dcterms:created>
  <dcterms:modified xsi:type="dcterms:W3CDTF">2026-10-17T09:51:21Z</dcterms:modified>
</cp:coreProperties>
</file>