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73" r:id="rId13"/>
    <p:sldId id="274" r:id="rId14"/>
    <p:sldId id="267" r:id="rId15"/>
    <p:sldId id="268"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8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3056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https://www.abs.gov.au/methodologies/retail-trade-australia-methodology/mar-2025</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https://www.kaggle.com/datasets/kanyaweechomming101/australia-monthly-retail-turnover-data
- https://www.abs.gov.au/methodologies/retail-trade-australia-methodology/mar-2025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https://www.abs.gov.au/articles/changes-seasonality-retail-turnover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https://www.abs.gov.au/articles/changes-seasonality-retail-turnover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1053100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5080807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https://www.kaggle.com/datasets/kanyaweechomming101/australia-monthly-retail-turnover-data
- https://www.abs.gov.au/methodologies/retail-trade-australia-methodology/mar-2025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https://www.kaggle.com/datasets/kanyaweechomming101/australia-monthly-retail-turnover-data
- https://www.abs.gov.au/methodologies/retail-trade-australia-methodology/mar-2025</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7888686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a:p>
        </p:txBody>
      </p:sp>
      <p:sp>
        <p:nvSpPr>
          <p:cNvPr id="3" name="Shape 1"/>
          <p:cNvSpPr/>
          <p:nvPr/>
        </p:nvSpPr>
        <p:spPr>
          <a:xfrm>
            <a:off x="8625535" y="274320"/>
            <a:ext cx="3383280" cy="1554480"/>
          </a:xfrm>
          <a:prstGeom prst="roundRect">
            <a:avLst/>
          </a:prstGeom>
          <a:solidFill>
            <a:srgbClr val="DBEAFE"/>
          </a:solidFill>
          <a:ln w="12700">
            <a:solidFill>
              <a:srgbClr val="DBEAFE"/>
            </a:solidFill>
            <a:prstDash val="solid"/>
          </a:ln>
        </p:spPr>
        <p:txBody>
          <a:bodyPr/>
          <a:lstStyle/>
          <a:p>
            <a:endParaRPr/>
          </a:p>
        </p:txBody>
      </p:sp>
      <p:sp>
        <p:nvSpPr>
          <p:cNvPr id="4" name="Shape 2"/>
          <p:cNvSpPr/>
          <p:nvPr/>
        </p:nvSpPr>
        <p:spPr>
          <a:xfrm>
            <a:off x="8808415" y="4937760"/>
            <a:ext cx="3200400" cy="1463040"/>
          </a:xfrm>
          <a:prstGeom prst="roundRect">
            <a:avLst/>
          </a:prstGeom>
          <a:solidFill>
            <a:srgbClr val="E0F2FE"/>
          </a:solidFill>
          <a:ln w="12700">
            <a:solidFill>
              <a:srgbClr val="E0F2FE"/>
            </a:solidFill>
            <a:prstDash val="solid"/>
          </a:ln>
        </p:spPr>
        <p:txBody>
          <a:bodyPr/>
          <a:lstStyle/>
          <a:p>
            <a:endParaRPr lang="en-US"/>
          </a:p>
        </p:txBody>
      </p:sp>
      <p:sp>
        <p:nvSpPr>
          <p:cNvPr id="5" name="Text 3"/>
          <p:cNvSpPr/>
          <p:nvPr/>
        </p:nvSpPr>
        <p:spPr>
          <a:xfrm>
            <a:off x="822960" y="2011680"/>
            <a:ext cx="10972800" cy="731520"/>
          </a:xfrm>
          <a:prstGeom prst="rect">
            <a:avLst/>
          </a:prstGeom>
          <a:noFill/>
          <a:ln/>
        </p:spPr>
        <p:txBody>
          <a:bodyPr wrap="square" rtlCol="0" anchor="ctr"/>
          <a:lstStyle/>
          <a:p>
            <a:pPr marL="0" indent="0">
              <a:buNone/>
            </a:pPr>
            <a:r>
              <a:rPr lang="en-US" sz="4400" b="1" dirty="0">
                <a:solidFill>
                  <a:srgbClr val="111827"/>
                </a:solidFill>
                <a:latin typeface="Calibri" pitchFamily="34" charset="0"/>
                <a:ea typeface="Calibri" pitchFamily="34" charset="-122"/>
                <a:cs typeface="Calibri" pitchFamily="34" charset="-120"/>
              </a:rPr>
              <a:t>Australia Retail Turnover</a:t>
            </a:r>
            <a:endParaRPr lang="en-US" sz="4400" dirty="0"/>
          </a:p>
        </p:txBody>
      </p:sp>
      <p:sp>
        <p:nvSpPr>
          <p:cNvPr id="6" name="Text 4"/>
          <p:cNvSpPr/>
          <p:nvPr/>
        </p:nvSpPr>
        <p:spPr>
          <a:xfrm>
            <a:off x="868680" y="2834640"/>
            <a:ext cx="10789920" cy="457200"/>
          </a:xfrm>
          <a:prstGeom prst="rect">
            <a:avLst/>
          </a:prstGeom>
          <a:noFill/>
          <a:ln/>
        </p:spPr>
        <p:txBody>
          <a:bodyPr wrap="square" rtlCol="0" anchor="ctr"/>
          <a:lstStyle/>
          <a:p>
            <a:pPr marL="0" indent="0">
              <a:buNone/>
            </a:pPr>
            <a:r>
              <a:rPr lang="en-US" sz="1800" dirty="0">
                <a:solidFill>
                  <a:srgbClr val="4B5563"/>
                </a:solidFill>
                <a:latin typeface="Calibri" pitchFamily="34" charset="0"/>
                <a:ea typeface="Calibri" pitchFamily="34" charset="-122"/>
                <a:cs typeface="Calibri" pitchFamily="34" charset="-120"/>
              </a:rPr>
              <a:t>Trends, drivers, seasonality &amp; forecasting (Tableau Desktop)</a:t>
            </a:r>
            <a:endParaRPr lang="en-US" sz="1800" dirty="0"/>
          </a:p>
        </p:txBody>
      </p:sp>
      <p:sp>
        <p:nvSpPr>
          <p:cNvPr id="7" name="Shape 5"/>
          <p:cNvSpPr/>
          <p:nvPr/>
        </p:nvSpPr>
        <p:spPr>
          <a:xfrm>
            <a:off x="868680" y="3794760"/>
            <a:ext cx="6675120" cy="182880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8" name="Text 6"/>
          <p:cNvSpPr/>
          <p:nvPr/>
        </p:nvSpPr>
        <p:spPr>
          <a:xfrm>
            <a:off x="1097280" y="3977640"/>
            <a:ext cx="6126480" cy="1463040"/>
          </a:xfrm>
          <a:prstGeom prst="rect">
            <a:avLst/>
          </a:prstGeom>
          <a:noFill/>
          <a:ln/>
        </p:spPr>
        <p:txBody>
          <a:bodyPr wrap="square" rtlCol="0" anchor="ctr"/>
          <a:lstStyle/>
          <a:p>
            <a:pPr marL="0" indent="0">
              <a:lnSpc>
                <a:spcPct val="110000"/>
              </a:lnSpc>
              <a:buNone/>
            </a:pPr>
            <a:r>
              <a:rPr lang="en-US" sz="1600" dirty="0">
                <a:solidFill>
                  <a:srgbClr val="111827"/>
                </a:solidFill>
                <a:latin typeface="Calibri" pitchFamily="34" charset="0"/>
                <a:ea typeface="Calibri" pitchFamily="34" charset="-122"/>
                <a:cs typeface="Calibri" pitchFamily="34" charset="-120"/>
              </a:rPr>
              <a:t>Rojan Poudel</a:t>
            </a:r>
          </a:p>
          <a:p>
            <a:pPr marL="0" indent="0">
              <a:lnSpc>
                <a:spcPct val="110000"/>
              </a:lnSpc>
              <a:buNone/>
            </a:pPr>
            <a:r>
              <a:rPr lang="en-US" sz="1600" dirty="0">
                <a:solidFill>
                  <a:srgbClr val="111827"/>
                </a:solidFill>
                <a:latin typeface="Calibri" pitchFamily="34" charset="0"/>
                <a:ea typeface="Calibri" pitchFamily="34" charset="-122"/>
                <a:cs typeface="Calibri" pitchFamily="34" charset="-120"/>
              </a:rPr>
              <a:t>Presentation</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563EB"/>
          </a:solidFill>
          <a:ln w="12700">
            <a:solidFill>
              <a:srgbClr val="2563EB"/>
            </a:solidFill>
            <a:prstDash val="solid"/>
          </a:ln>
        </p:spPr>
        <p:txBody>
          <a:bodyPr/>
          <a:lstStyle/>
          <a:p>
            <a:endParaRPr/>
          </a:p>
        </p:txBody>
      </p:sp>
      <p:sp>
        <p:nvSpPr>
          <p:cNvPr id="3" name="Text 1"/>
          <p:cNvSpPr/>
          <p:nvPr/>
        </p:nvSpPr>
        <p:spPr>
          <a:xfrm>
            <a:off x="548640" y="109728"/>
            <a:ext cx="11094415" cy="27432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Why collect retail turnover data? (Business demand)</a:t>
            </a:r>
            <a:endParaRPr lang="en-US" sz="1800" dirty="0"/>
          </a:p>
        </p:txBody>
      </p:sp>
      <p:sp>
        <p:nvSpPr>
          <p:cNvPr id="4" name="Shape 2"/>
          <p:cNvSpPr/>
          <p:nvPr/>
        </p:nvSpPr>
        <p:spPr>
          <a:xfrm>
            <a:off x="624993" y="842191"/>
            <a:ext cx="5394960" cy="539496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5" name="Text 3"/>
          <p:cNvSpPr/>
          <p:nvPr/>
        </p:nvSpPr>
        <p:spPr>
          <a:xfrm>
            <a:off x="960120" y="1828800"/>
            <a:ext cx="4846320" cy="365760"/>
          </a:xfrm>
          <a:prstGeom prst="rect">
            <a:avLst/>
          </a:prstGeom>
          <a:noFill/>
          <a:ln/>
        </p:spPr>
        <p:txBody>
          <a:bodyPr wrap="square" rtlCol="0" anchor="ctr"/>
          <a:lstStyle/>
          <a:p>
            <a:pPr marL="0" indent="0">
              <a:buNone/>
            </a:pPr>
            <a:r>
              <a:rPr lang="en-US" sz="2000" b="1" dirty="0">
                <a:solidFill>
                  <a:srgbClr val="111827"/>
                </a:solidFill>
                <a:latin typeface="Calibri" pitchFamily="34" charset="0"/>
                <a:ea typeface="Calibri" pitchFamily="34" charset="-122"/>
                <a:cs typeface="Calibri" pitchFamily="34" charset="-120"/>
              </a:rPr>
              <a:t>Decision support needs</a:t>
            </a:r>
            <a:endParaRPr lang="en-US" sz="2000" dirty="0"/>
          </a:p>
        </p:txBody>
      </p:sp>
      <p:sp>
        <p:nvSpPr>
          <p:cNvPr id="6" name="Text 4"/>
          <p:cNvSpPr/>
          <p:nvPr/>
        </p:nvSpPr>
        <p:spPr>
          <a:xfrm>
            <a:off x="786063" y="2194560"/>
            <a:ext cx="5233889" cy="1350746"/>
          </a:xfrm>
          <a:prstGeom prst="rect">
            <a:avLst/>
          </a:prstGeom>
          <a:noFill/>
          <a:ln/>
        </p:spPr>
        <p:txBody>
          <a:bodyPr wrap="square" rtlCol="0" anchor="ctr"/>
          <a:lstStyle/>
          <a:p>
            <a:pPr marL="285750" indent="-285750">
              <a:lnSpc>
                <a:spcPct val="115000"/>
              </a:lnSpc>
              <a:buSzPct val="100000"/>
              <a:buFont typeface="Arial" panose="020B0604020202020204" pitchFamily="34" charset="0"/>
              <a:buChar char="•"/>
            </a:pPr>
            <a:r>
              <a:rPr lang="en-US" sz="1400" dirty="0"/>
              <a:t>Monitor consumer demand trends (growth patterns/declines).</a:t>
            </a:r>
          </a:p>
          <a:p>
            <a:pPr marL="285750" indent="-285750">
              <a:lnSpc>
                <a:spcPct val="115000"/>
              </a:lnSpc>
              <a:buSzPct val="100000"/>
              <a:buFont typeface="Arial" panose="020B0604020202020204" pitchFamily="34" charset="0"/>
              <a:buChar char="•"/>
            </a:pPr>
            <a:r>
              <a:rPr lang="en-US" sz="1400" dirty="0"/>
              <a:t>Compare state and industry performance.</a:t>
            </a:r>
          </a:p>
          <a:p>
            <a:pPr marL="285750" indent="-285750">
              <a:lnSpc>
                <a:spcPct val="115000"/>
              </a:lnSpc>
              <a:buSzPct val="100000"/>
              <a:buFont typeface="Arial" panose="020B0604020202020204" pitchFamily="34" charset="0"/>
              <a:buChar char="•"/>
            </a:pPr>
            <a:r>
              <a:rPr lang="en-US" sz="1400" dirty="0"/>
              <a:t>Determine seasonal trends for hiring, inventory, and promotions.</a:t>
            </a:r>
          </a:p>
          <a:p>
            <a:pPr marL="285750" indent="-285750">
              <a:lnSpc>
                <a:spcPct val="115000"/>
              </a:lnSpc>
              <a:buSzPct val="100000"/>
              <a:buFont typeface="Arial" panose="020B0604020202020204" pitchFamily="34" charset="0"/>
              <a:buChar char="•"/>
            </a:pPr>
            <a:r>
              <a:rPr lang="en-US" sz="1400" dirty="0"/>
              <a:t>Use for budgeting and planning purposes.</a:t>
            </a:r>
          </a:p>
          <a:p>
            <a:pPr marL="285750" indent="-285750">
              <a:lnSpc>
                <a:spcPct val="115000"/>
              </a:lnSpc>
              <a:buSzPct val="100000"/>
              <a:buFont typeface="Arial" panose="020B0604020202020204" pitchFamily="34" charset="0"/>
              <a:buChar char="•"/>
            </a:pPr>
            <a:r>
              <a:rPr lang="en-US" sz="1400" dirty="0"/>
              <a:t>Inform policy and investment choices (public and private sectors)</a:t>
            </a:r>
          </a:p>
        </p:txBody>
      </p:sp>
      <p:sp>
        <p:nvSpPr>
          <p:cNvPr id="10" name="Shape 8"/>
          <p:cNvSpPr/>
          <p:nvPr/>
        </p:nvSpPr>
        <p:spPr>
          <a:xfrm>
            <a:off x="6400800" y="823743"/>
            <a:ext cx="5029200" cy="539496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11" name="Text 9"/>
          <p:cNvSpPr/>
          <p:nvPr/>
        </p:nvSpPr>
        <p:spPr>
          <a:xfrm>
            <a:off x="7162495" y="1030740"/>
            <a:ext cx="4480560" cy="365760"/>
          </a:xfrm>
          <a:prstGeom prst="rect">
            <a:avLst/>
          </a:prstGeom>
          <a:noFill/>
          <a:ln/>
        </p:spPr>
        <p:txBody>
          <a:bodyPr wrap="square" rtlCol="0" anchor="ctr"/>
          <a:lstStyle/>
          <a:p>
            <a:pPr marL="0" indent="0">
              <a:buNone/>
            </a:pPr>
            <a:r>
              <a:rPr lang="en-US" sz="2000" b="1" dirty="0">
                <a:solidFill>
                  <a:srgbClr val="111827"/>
                </a:solidFill>
                <a:latin typeface="Calibri" pitchFamily="34" charset="0"/>
                <a:ea typeface="Calibri" pitchFamily="34" charset="-122"/>
                <a:cs typeface="Calibri" pitchFamily="34" charset="-120"/>
              </a:rPr>
              <a:t>Business questions we answer</a:t>
            </a:r>
            <a:endParaRPr lang="en-US" sz="2000" dirty="0"/>
          </a:p>
        </p:txBody>
      </p:sp>
      <p:sp>
        <p:nvSpPr>
          <p:cNvPr id="12" name="Shape 10"/>
          <p:cNvSpPr/>
          <p:nvPr/>
        </p:nvSpPr>
        <p:spPr>
          <a:xfrm>
            <a:off x="6675120" y="1600200"/>
            <a:ext cx="4480560" cy="4480560"/>
          </a:xfrm>
          <a:prstGeom prst="roundRect">
            <a:avLst/>
          </a:prstGeom>
          <a:solidFill>
            <a:srgbClr val="EFF6FF"/>
          </a:solidFill>
          <a:ln w="12700">
            <a:solidFill>
              <a:srgbClr val="BFDBFE"/>
            </a:solidFill>
            <a:prstDash val="solid"/>
          </a:ln>
        </p:spPr>
        <p:txBody>
          <a:bodyPr/>
          <a:lstStyle/>
          <a:p>
            <a:endParaRPr lang="en-US"/>
          </a:p>
        </p:txBody>
      </p:sp>
      <p:sp>
        <p:nvSpPr>
          <p:cNvPr id="13" name="Text 11"/>
          <p:cNvSpPr/>
          <p:nvPr/>
        </p:nvSpPr>
        <p:spPr>
          <a:xfrm>
            <a:off x="6903720" y="1828800"/>
            <a:ext cx="4023360" cy="4023360"/>
          </a:xfrm>
          <a:prstGeom prst="rect">
            <a:avLst/>
          </a:prstGeom>
          <a:noFill/>
          <a:ln/>
        </p:spPr>
        <p:txBody>
          <a:bodyPr wrap="square" rtlCol="0" anchor="ctr"/>
          <a:lstStyle/>
          <a:p>
            <a:pPr marL="0" indent="0">
              <a:lnSpc>
                <a:spcPct val="110000"/>
              </a:lnSpc>
              <a:buNone/>
            </a:pPr>
            <a:r>
              <a:rPr lang="en-US" sz="1500" dirty="0">
                <a:solidFill>
                  <a:srgbClr val="111827"/>
                </a:solidFill>
                <a:latin typeface="Calibri" pitchFamily="34" charset="0"/>
                <a:ea typeface="Calibri" pitchFamily="34" charset="-122"/>
                <a:cs typeface="Calibri" pitchFamily="34" charset="-120"/>
              </a:rPr>
              <a:t>1) How has retail turnover changed over time?</a:t>
            </a:r>
            <a:endParaRPr lang="en-US" sz="1500" dirty="0"/>
          </a:p>
          <a:p>
            <a:pPr marL="0" indent="0">
              <a:lnSpc>
                <a:spcPct val="110000"/>
              </a:lnSpc>
              <a:buNone/>
            </a:pPr>
            <a:endParaRPr lang="en-US" sz="1500" dirty="0"/>
          </a:p>
          <a:p>
            <a:pPr marL="0" indent="0">
              <a:lnSpc>
                <a:spcPct val="110000"/>
              </a:lnSpc>
              <a:buNone/>
            </a:pPr>
            <a:r>
              <a:rPr lang="en-US" sz="1500" dirty="0">
                <a:solidFill>
                  <a:srgbClr val="111827"/>
                </a:solidFill>
                <a:latin typeface="Calibri" pitchFamily="34" charset="0"/>
                <a:ea typeface="Calibri" pitchFamily="34" charset="-122"/>
                <a:cs typeface="Calibri" pitchFamily="34" charset="-120"/>
              </a:rPr>
              <a:t>2) Which states drive the largest share?</a:t>
            </a:r>
            <a:endParaRPr lang="en-US" sz="1500" dirty="0"/>
          </a:p>
          <a:p>
            <a:pPr marL="0" indent="0">
              <a:lnSpc>
                <a:spcPct val="110000"/>
              </a:lnSpc>
              <a:buNone/>
            </a:pPr>
            <a:endParaRPr lang="en-US" sz="1500" dirty="0"/>
          </a:p>
          <a:p>
            <a:pPr marL="0" indent="0">
              <a:lnSpc>
                <a:spcPct val="110000"/>
              </a:lnSpc>
              <a:buNone/>
            </a:pPr>
            <a:r>
              <a:rPr lang="en-US" sz="1500" dirty="0">
                <a:solidFill>
                  <a:srgbClr val="111827"/>
                </a:solidFill>
                <a:latin typeface="Calibri" pitchFamily="34" charset="0"/>
                <a:ea typeface="Calibri" pitchFamily="34" charset="-122"/>
                <a:cs typeface="Calibri" pitchFamily="34" charset="-120"/>
              </a:rPr>
              <a:t>3) Which industries drive turnover the most?</a:t>
            </a:r>
            <a:endParaRPr lang="en-US" sz="1500" dirty="0"/>
          </a:p>
          <a:p>
            <a:pPr marL="0" indent="0">
              <a:lnSpc>
                <a:spcPct val="110000"/>
              </a:lnSpc>
              <a:buNone/>
            </a:pPr>
            <a:endParaRPr lang="en-US" sz="1500" dirty="0"/>
          </a:p>
          <a:p>
            <a:pPr marL="0" indent="0">
              <a:lnSpc>
                <a:spcPct val="110000"/>
              </a:lnSpc>
              <a:buNone/>
            </a:pPr>
            <a:r>
              <a:rPr lang="en-US" sz="1500" dirty="0">
                <a:solidFill>
                  <a:srgbClr val="111827"/>
                </a:solidFill>
                <a:latin typeface="Calibri" pitchFamily="34" charset="0"/>
                <a:ea typeface="Calibri" pitchFamily="34" charset="-122"/>
                <a:cs typeface="Calibri" pitchFamily="34" charset="-120"/>
              </a:rPr>
              <a:t>4) Which months are consistently higher/lower?</a:t>
            </a:r>
            <a:endParaRPr lang="en-US" sz="1500" dirty="0"/>
          </a:p>
          <a:p>
            <a:pPr marL="0" indent="0">
              <a:lnSpc>
                <a:spcPct val="110000"/>
              </a:lnSpc>
              <a:buNone/>
            </a:pPr>
            <a:endParaRPr lang="en-US" sz="1500" dirty="0"/>
          </a:p>
          <a:p>
            <a:pPr marL="0" indent="0">
              <a:lnSpc>
                <a:spcPct val="110000"/>
              </a:lnSpc>
              <a:buNone/>
            </a:pPr>
            <a:r>
              <a:rPr lang="en-US" sz="1500" dirty="0">
                <a:solidFill>
                  <a:srgbClr val="111827"/>
                </a:solidFill>
                <a:latin typeface="Calibri" pitchFamily="34" charset="0"/>
                <a:ea typeface="Calibri" pitchFamily="34" charset="-122"/>
                <a:cs typeface="Calibri" pitchFamily="34" charset="-120"/>
              </a:rPr>
              <a:t>5) What does the near-term future look like (forecast)?</a:t>
            </a:r>
            <a:endParaRPr lang="en-US" sz="15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563EB"/>
          </a:solidFill>
          <a:ln w="12700">
            <a:solidFill>
              <a:srgbClr val="2563EB"/>
            </a:solidFill>
            <a:prstDash val="solid"/>
          </a:ln>
        </p:spPr>
        <p:txBody>
          <a:bodyPr/>
          <a:lstStyle/>
          <a:p>
            <a:endParaRPr/>
          </a:p>
        </p:txBody>
      </p:sp>
      <p:sp>
        <p:nvSpPr>
          <p:cNvPr id="3" name="Text 1"/>
          <p:cNvSpPr/>
          <p:nvPr/>
        </p:nvSpPr>
        <p:spPr>
          <a:xfrm>
            <a:off x="548640" y="109728"/>
            <a:ext cx="11094415" cy="27432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Dataset overview</a:t>
            </a:r>
            <a:endParaRPr lang="en-US" sz="1800" dirty="0"/>
          </a:p>
        </p:txBody>
      </p:sp>
      <p:sp>
        <p:nvSpPr>
          <p:cNvPr id="4" name="Shape 2"/>
          <p:cNvSpPr/>
          <p:nvPr/>
        </p:nvSpPr>
        <p:spPr>
          <a:xfrm>
            <a:off x="731520" y="914400"/>
            <a:ext cx="5760720" cy="539496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5" name="Text 3"/>
          <p:cNvSpPr/>
          <p:nvPr/>
        </p:nvSpPr>
        <p:spPr>
          <a:xfrm>
            <a:off x="1051560" y="1417320"/>
            <a:ext cx="5212080" cy="365760"/>
          </a:xfrm>
          <a:prstGeom prst="rect">
            <a:avLst/>
          </a:prstGeom>
          <a:noFill/>
          <a:ln/>
        </p:spPr>
        <p:txBody>
          <a:bodyPr wrap="square" rtlCol="0" anchor="ctr"/>
          <a:lstStyle/>
          <a:p>
            <a:pPr marL="0" indent="0">
              <a:buNone/>
            </a:pPr>
            <a:r>
              <a:rPr lang="en-US" sz="2000" b="1" dirty="0">
                <a:solidFill>
                  <a:srgbClr val="111827"/>
                </a:solidFill>
                <a:latin typeface="Calibri" pitchFamily="34" charset="0"/>
                <a:ea typeface="Calibri" pitchFamily="34" charset="-122"/>
                <a:cs typeface="Calibri" pitchFamily="34" charset="-120"/>
              </a:rPr>
              <a:t>Source &amp; structure</a:t>
            </a:r>
            <a:endParaRPr lang="en-US" sz="2000" dirty="0"/>
          </a:p>
        </p:txBody>
      </p:sp>
      <p:sp>
        <p:nvSpPr>
          <p:cNvPr id="6" name="Text 4"/>
          <p:cNvSpPr/>
          <p:nvPr/>
        </p:nvSpPr>
        <p:spPr>
          <a:xfrm>
            <a:off x="1005840" y="1554480"/>
            <a:ext cx="5303520" cy="2011680"/>
          </a:xfrm>
          <a:prstGeom prst="rect">
            <a:avLst/>
          </a:prstGeom>
          <a:noFill/>
          <a:ln/>
        </p:spPr>
        <p:txBody>
          <a:bodyPr wrap="square" rtlCol="0" anchor="ctr"/>
          <a:lstStyle/>
          <a:p>
            <a:pPr marL="285750" indent="-285750">
              <a:lnSpc>
                <a:spcPct val="115000"/>
              </a:lnSpc>
              <a:buSzPct val="100000"/>
              <a:buFont typeface="Arial" panose="020B0604020202020204" pitchFamily="34" charset="0"/>
              <a:buChar char="•"/>
            </a:pPr>
            <a:r>
              <a:rPr lang="en-US" sz="1600" dirty="0"/>
              <a:t>Public dataset (</a:t>
            </a:r>
            <a:r>
              <a:rPr lang="en-US" sz="1600" dirty="0" err="1"/>
              <a:t>Kaggle</a:t>
            </a:r>
            <a:r>
              <a:rPr lang="en-US" sz="1600" dirty="0"/>
              <a:t>) based on Australian retail turnover</a:t>
            </a:r>
          </a:p>
          <a:p>
            <a:pPr marL="285750" indent="-285750">
              <a:lnSpc>
                <a:spcPct val="115000"/>
              </a:lnSpc>
              <a:buSzPct val="100000"/>
              <a:buFont typeface="Arial" panose="020B0604020202020204" pitchFamily="34" charset="0"/>
              <a:buChar char="•"/>
            </a:pPr>
            <a:r>
              <a:rPr lang="en-US" sz="1600" dirty="0"/>
              <a:t>Granularity: monthly time series</a:t>
            </a:r>
          </a:p>
          <a:p>
            <a:pPr marL="285750" indent="-285750">
              <a:lnSpc>
                <a:spcPct val="115000"/>
              </a:lnSpc>
              <a:buSzPct val="100000"/>
              <a:buFont typeface="Arial" panose="020B0604020202020204" pitchFamily="34" charset="0"/>
              <a:buChar char="•"/>
            </a:pPr>
            <a:r>
              <a:rPr lang="en-US" sz="1600" dirty="0"/>
              <a:t>Coverage: states/territories and retail industries</a:t>
            </a:r>
          </a:p>
          <a:p>
            <a:pPr marL="285750" indent="-285750">
              <a:lnSpc>
                <a:spcPct val="115000"/>
              </a:lnSpc>
              <a:buSzPct val="100000"/>
              <a:buFont typeface="Arial" panose="020B0604020202020204" pitchFamily="34" charset="0"/>
              <a:buChar char="•"/>
            </a:pPr>
            <a:r>
              <a:rPr lang="en-US" sz="1600" dirty="0"/>
              <a:t>Typical fields: State, Industry, Month, Turnover, Series ID</a:t>
            </a:r>
          </a:p>
          <a:p>
            <a:pPr marL="285750" indent="-285750">
              <a:lnSpc>
                <a:spcPct val="115000"/>
              </a:lnSpc>
              <a:buSzPct val="100000"/>
              <a:buFont typeface="Arial" panose="020B0604020202020204" pitchFamily="34" charset="0"/>
              <a:buChar char="•"/>
            </a:pPr>
            <a:r>
              <a:rPr lang="en-US" sz="1600" dirty="0"/>
              <a:t>Rows: ~64k (enough for robust visualization)</a:t>
            </a:r>
            <a:endParaRPr lang="en-US" sz="1500" dirty="0"/>
          </a:p>
        </p:txBody>
      </p:sp>
      <p:sp>
        <p:nvSpPr>
          <p:cNvPr id="7" name="Shape 5"/>
          <p:cNvSpPr/>
          <p:nvPr/>
        </p:nvSpPr>
        <p:spPr>
          <a:xfrm>
            <a:off x="1005840" y="3794760"/>
            <a:ext cx="5303520" cy="1737360"/>
          </a:xfrm>
          <a:prstGeom prst="roundRect">
            <a:avLst/>
          </a:prstGeom>
          <a:solidFill>
            <a:srgbClr val="F8FAFC"/>
          </a:solidFill>
          <a:ln w="12700">
            <a:solidFill>
              <a:srgbClr val="E5E7EB"/>
            </a:solidFill>
            <a:prstDash val="solid"/>
          </a:ln>
        </p:spPr>
        <p:txBody>
          <a:bodyPr/>
          <a:lstStyle/>
          <a:p>
            <a:endParaRPr lang="en-US"/>
          </a:p>
        </p:txBody>
      </p:sp>
      <p:sp>
        <p:nvSpPr>
          <p:cNvPr id="8" name="Text 6"/>
          <p:cNvSpPr/>
          <p:nvPr/>
        </p:nvSpPr>
        <p:spPr>
          <a:xfrm>
            <a:off x="1234440" y="3886200"/>
            <a:ext cx="4937760" cy="27432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Metric definition (Turnover)</a:t>
            </a:r>
            <a:endParaRPr lang="en-US" sz="1400" dirty="0"/>
          </a:p>
        </p:txBody>
      </p:sp>
      <p:sp>
        <p:nvSpPr>
          <p:cNvPr id="9" name="Text 7"/>
          <p:cNvSpPr/>
          <p:nvPr/>
        </p:nvSpPr>
        <p:spPr>
          <a:xfrm>
            <a:off x="1234440" y="4160520"/>
            <a:ext cx="4937760" cy="521867"/>
          </a:xfrm>
          <a:prstGeom prst="rect">
            <a:avLst/>
          </a:prstGeom>
          <a:noFill/>
          <a:ln/>
        </p:spPr>
        <p:txBody>
          <a:bodyPr wrap="square" rtlCol="0" anchor="ctr"/>
          <a:lstStyle/>
          <a:p>
            <a:pPr>
              <a:lnSpc>
                <a:spcPct val="120000"/>
              </a:lnSpc>
            </a:pPr>
            <a:r>
              <a:rPr lang="en-US" sz="1200" dirty="0"/>
              <a:t>Retail turnover is the value of sales/takings by retail businesses, reported monthly and categorized by industry and state/territory.</a:t>
            </a:r>
          </a:p>
        </p:txBody>
      </p:sp>
      <p:sp>
        <p:nvSpPr>
          <p:cNvPr id="10" name="Shape 8"/>
          <p:cNvSpPr/>
          <p:nvPr/>
        </p:nvSpPr>
        <p:spPr>
          <a:xfrm>
            <a:off x="6720840" y="914400"/>
            <a:ext cx="4663440" cy="539496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11" name="Text 9"/>
          <p:cNvSpPr/>
          <p:nvPr/>
        </p:nvSpPr>
        <p:spPr>
          <a:xfrm>
            <a:off x="7528255" y="1017785"/>
            <a:ext cx="3106794" cy="365760"/>
          </a:xfrm>
          <a:prstGeom prst="rect">
            <a:avLst/>
          </a:prstGeom>
          <a:noFill/>
          <a:ln/>
        </p:spPr>
        <p:txBody>
          <a:bodyPr wrap="square" rtlCol="0" anchor="ctr"/>
          <a:lstStyle/>
          <a:p>
            <a:pPr marL="0" indent="0">
              <a:buNone/>
            </a:pPr>
            <a:r>
              <a:rPr lang="en-US" sz="2000" b="1" dirty="0">
                <a:solidFill>
                  <a:srgbClr val="111827"/>
                </a:solidFill>
                <a:latin typeface="Calibri" pitchFamily="34" charset="0"/>
                <a:ea typeface="Calibri" pitchFamily="34" charset="-122"/>
                <a:cs typeface="Calibri" pitchFamily="34" charset="-120"/>
              </a:rPr>
              <a:t>dataset preview screenshot</a:t>
            </a:r>
            <a:endParaRPr lang="en-US" sz="2000" dirty="0"/>
          </a:p>
        </p:txBody>
      </p:sp>
      <p:sp>
        <p:nvSpPr>
          <p:cNvPr id="13" name="Text 11"/>
          <p:cNvSpPr/>
          <p:nvPr/>
        </p:nvSpPr>
        <p:spPr>
          <a:xfrm>
            <a:off x="7269480" y="1783080"/>
            <a:ext cx="3657600" cy="4023360"/>
          </a:xfrm>
          <a:prstGeom prst="rect">
            <a:avLst/>
          </a:prstGeom>
          <a:noFill/>
          <a:ln/>
        </p:spPr>
        <p:txBody>
          <a:bodyPr wrap="square" rtlCol="0" anchor="t"/>
          <a:lstStyle/>
          <a:p>
            <a:pPr marL="0" indent="0">
              <a:buNone/>
            </a:pPr>
            <a:endParaRPr lang="en-US" sz="1200" dirty="0"/>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8022" y="1486930"/>
            <a:ext cx="4293561" cy="2474347"/>
          </a:xfrm>
          <a:prstGeom prst="rect">
            <a:avLst/>
          </a:prstGeom>
        </p:spPr>
      </p:pic>
      <p:pic>
        <p:nvPicPr>
          <p:cNvPr id="16" name="Picture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28021" y="4033250"/>
            <a:ext cx="4293561" cy="190046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563EB"/>
          </a:solidFill>
          <a:ln w="12700">
            <a:solidFill>
              <a:srgbClr val="2563EB"/>
            </a:solidFill>
            <a:prstDash val="solid"/>
          </a:ln>
        </p:spPr>
        <p:txBody>
          <a:bodyPr/>
          <a:lstStyle/>
          <a:p>
            <a:endParaRPr/>
          </a:p>
        </p:txBody>
      </p:sp>
      <p:sp>
        <p:nvSpPr>
          <p:cNvPr id="3" name="Text 1"/>
          <p:cNvSpPr/>
          <p:nvPr/>
        </p:nvSpPr>
        <p:spPr>
          <a:xfrm>
            <a:off x="548640" y="109728"/>
            <a:ext cx="11094415" cy="27432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Research questions, hypotheses &amp; approach</a:t>
            </a:r>
            <a:endParaRPr lang="en-US" sz="1800" dirty="0"/>
          </a:p>
        </p:txBody>
      </p:sp>
      <p:sp>
        <p:nvSpPr>
          <p:cNvPr id="4" name="Shape 2"/>
          <p:cNvSpPr/>
          <p:nvPr/>
        </p:nvSpPr>
        <p:spPr>
          <a:xfrm>
            <a:off x="731520" y="914400"/>
            <a:ext cx="5760720" cy="539496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5" name="Text 3"/>
          <p:cNvSpPr/>
          <p:nvPr/>
        </p:nvSpPr>
        <p:spPr>
          <a:xfrm>
            <a:off x="1005840" y="1491625"/>
            <a:ext cx="5212080" cy="365760"/>
          </a:xfrm>
          <a:prstGeom prst="rect">
            <a:avLst/>
          </a:prstGeom>
          <a:noFill/>
          <a:ln/>
        </p:spPr>
        <p:txBody>
          <a:bodyPr wrap="square" rtlCol="0" anchor="ctr"/>
          <a:lstStyle/>
          <a:p>
            <a:pPr marL="0" indent="0">
              <a:buNone/>
            </a:pPr>
            <a:r>
              <a:rPr lang="en-US" sz="2000" b="1" dirty="0">
                <a:solidFill>
                  <a:srgbClr val="111827"/>
                </a:solidFill>
                <a:latin typeface="Calibri" pitchFamily="34" charset="0"/>
                <a:ea typeface="Calibri" pitchFamily="34" charset="-122"/>
                <a:cs typeface="Calibri" pitchFamily="34" charset="-120"/>
              </a:rPr>
              <a:t>Research questions</a:t>
            </a:r>
            <a:endParaRPr lang="en-US" sz="2000" dirty="0"/>
          </a:p>
        </p:txBody>
      </p:sp>
      <p:sp>
        <p:nvSpPr>
          <p:cNvPr id="6" name="Text 4"/>
          <p:cNvSpPr/>
          <p:nvPr/>
        </p:nvSpPr>
        <p:spPr>
          <a:xfrm>
            <a:off x="1005840" y="1881316"/>
            <a:ext cx="5303520" cy="1616264"/>
          </a:xfrm>
          <a:prstGeom prst="rect">
            <a:avLst/>
          </a:prstGeom>
          <a:noFill/>
          <a:ln/>
        </p:spPr>
        <p:txBody>
          <a:bodyPr wrap="square" rtlCol="0" anchor="ctr"/>
          <a:lstStyle/>
          <a:p>
            <a:pPr marL="228600" indent="-228600">
              <a:lnSpc>
                <a:spcPct val="115000"/>
              </a:lnSpc>
              <a:buSzPct val="100000"/>
              <a:buChar char="•"/>
            </a:pPr>
            <a:r>
              <a:rPr lang="en-US" sz="1500" dirty="0">
                <a:solidFill>
                  <a:srgbClr val="111827"/>
                </a:solidFill>
                <a:latin typeface="Calibri" pitchFamily="34" charset="0"/>
                <a:ea typeface="Calibri" pitchFamily="34" charset="-122"/>
                <a:cs typeface="Calibri" pitchFamily="34" charset="-120"/>
              </a:rPr>
              <a:t>How has total retail turnover changed over time?</a:t>
            </a:r>
            <a:endParaRPr lang="en-US" sz="1500" dirty="0"/>
          </a:p>
          <a:p>
            <a:pPr marL="228600" indent="-228600">
              <a:lnSpc>
                <a:spcPct val="115000"/>
              </a:lnSpc>
              <a:buSzPct val="100000"/>
              <a:buChar char="•"/>
            </a:pPr>
            <a:r>
              <a:rPr lang="en-US" sz="1500" dirty="0">
                <a:solidFill>
                  <a:srgbClr val="111827"/>
                </a:solidFill>
                <a:latin typeface="Calibri" pitchFamily="34" charset="0"/>
                <a:ea typeface="Calibri" pitchFamily="34" charset="-122"/>
                <a:cs typeface="Calibri" pitchFamily="34" charset="-120"/>
              </a:rPr>
              <a:t>Which states contribute the most to turnover?</a:t>
            </a:r>
            <a:endParaRPr lang="en-US" sz="1500" dirty="0"/>
          </a:p>
          <a:p>
            <a:pPr marL="228600" indent="-228600">
              <a:lnSpc>
                <a:spcPct val="115000"/>
              </a:lnSpc>
              <a:buSzPct val="100000"/>
              <a:buChar char="•"/>
            </a:pPr>
            <a:r>
              <a:rPr lang="en-US" sz="1500" dirty="0">
                <a:solidFill>
                  <a:srgbClr val="111827"/>
                </a:solidFill>
                <a:latin typeface="Calibri" pitchFamily="34" charset="0"/>
                <a:ea typeface="Calibri" pitchFamily="34" charset="-122"/>
                <a:cs typeface="Calibri" pitchFamily="34" charset="-120"/>
              </a:rPr>
              <a:t>Which industries contribute the most to turnover?</a:t>
            </a:r>
            <a:endParaRPr lang="en-US" sz="1500" dirty="0"/>
          </a:p>
          <a:p>
            <a:pPr marL="228600" indent="-228600">
              <a:lnSpc>
                <a:spcPct val="115000"/>
              </a:lnSpc>
              <a:buSzPct val="100000"/>
              <a:buChar char="•"/>
            </a:pPr>
            <a:r>
              <a:rPr lang="en-US" sz="1500" dirty="0">
                <a:solidFill>
                  <a:srgbClr val="111827"/>
                </a:solidFill>
                <a:latin typeface="Calibri" pitchFamily="34" charset="0"/>
                <a:ea typeface="Calibri" pitchFamily="34" charset="-122"/>
                <a:cs typeface="Calibri" pitchFamily="34" charset="-120"/>
              </a:rPr>
              <a:t>Is there strong month-by-month seasonality?</a:t>
            </a:r>
            <a:endParaRPr lang="en-US" sz="1500" dirty="0"/>
          </a:p>
          <a:p>
            <a:pPr marL="228600" indent="-228600">
              <a:lnSpc>
                <a:spcPct val="115000"/>
              </a:lnSpc>
              <a:buSzPct val="100000"/>
              <a:buChar char="•"/>
            </a:pPr>
            <a:r>
              <a:rPr lang="en-US" sz="1500" dirty="0">
                <a:solidFill>
                  <a:srgbClr val="111827"/>
                </a:solidFill>
                <a:latin typeface="Calibri" pitchFamily="34" charset="0"/>
                <a:ea typeface="Calibri" pitchFamily="34" charset="-122"/>
                <a:cs typeface="Calibri" pitchFamily="34" charset="-120"/>
              </a:rPr>
              <a:t>Can we forecast near-term turnover using time-series methods?</a:t>
            </a:r>
            <a:endParaRPr lang="en-US" sz="1500" dirty="0"/>
          </a:p>
        </p:txBody>
      </p:sp>
      <p:sp>
        <p:nvSpPr>
          <p:cNvPr id="7" name="Shape 5"/>
          <p:cNvSpPr/>
          <p:nvPr/>
        </p:nvSpPr>
        <p:spPr>
          <a:xfrm>
            <a:off x="960120" y="3954780"/>
            <a:ext cx="5303520" cy="1795231"/>
          </a:xfrm>
          <a:prstGeom prst="roundRect">
            <a:avLst/>
          </a:prstGeom>
          <a:solidFill>
            <a:srgbClr val="F8FAFC"/>
          </a:solidFill>
          <a:ln w="12700">
            <a:solidFill>
              <a:srgbClr val="E5E7EB"/>
            </a:solidFill>
            <a:prstDash val="solid"/>
          </a:ln>
        </p:spPr>
        <p:txBody>
          <a:bodyPr/>
          <a:lstStyle/>
          <a:p>
            <a:endParaRPr lang="en-US"/>
          </a:p>
        </p:txBody>
      </p:sp>
      <p:sp>
        <p:nvSpPr>
          <p:cNvPr id="8" name="Text 6"/>
          <p:cNvSpPr/>
          <p:nvPr/>
        </p:nvSpPr>
        <p:spPr>
          <a:xfrm>
            <a:off x="1234440" y="4114800"/>
            <a:ext cx="4937760" cy="27432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Hypotheses (examples)</a:t>
            </a:r>
            <a:endParaRPr lang="en-US" sz="1400" dirty="0"/>
          </a:p>
        </p:txBody>
      </p:sp>
      <p:sp>
        <p:nvSpPr>
          <p:cNvPr id="9" name="Text 7"/>
          <p:cNvSpPr/>
          <p:nvPr/>
        </p:nvSpPr>
        <p:spPr>
          <a:xfrm>
            <a:off x="1234440" y="4389120"/>
            <a:ext cx="4937760" cy="1196546"/>
          </a:xfrm>
          <a:prstGeom prst="rect">
            <a:avLst/>
          </a:prstGeom>
          <a:noFill/>
          <a:ln/>
        </p:spPr>
        <p:txBody>
          <a:bodyPr wrap="square" rtlCol="0" anchor="ctr"/>
          <a:lstStyle/>
          <a:p>
            <a:pPr marL="0" indent="0">
              <a:lnSpc>
                <a:spcPct val="115000"/>
              </a:lnSpc>
              <a:buNone/>
            </a:pPr>
            <a:r>
              <a:rPr lang="en-US" sz="1200" dirty="0">
                <a:solidFill>
                  <a:srgbClr val="4B5563"/>
                </a:solidFill>
                <a:latin typeface="Calibri" pitchFamily="34" charset="0"/>
                <a:ea typeface="Calibri" pitchFamily="34" charset="-122"/>
                <a:cs typeface="Calibri" pitchFamily="34" charset="-120"/>
              </a:rPr>
              <a:t>H1: Turnover shows a significant upward long-run trend.</a:t>
            </a:r>
            <a:endParaRPr lang="en-US" sz="1200" dirty="0"/>
          </a:p>
          <a:p>
            <a:pPr marL="0" indent="0">
              <a:lnSpc>
                <a:spcPct val="115000"/>
              </a:lnSpc>
              <a:buNone/>
            </a:pPr>
            <a:r>
              <a:rPr lang="en-US" sz="1200" dirty="0">
                <a:solidFill>
                  <a:srgbClr val="4B5563"/>
                </a:solidFill>
                <a:latin typeface="Calibri" pitchFamily="34" charset="0"/>
                <a:ea typeface="Calibri" pitchFamily="34" charset="-122"/>
                <a:cs typeface="Calibri" pitchFamily="34" charset="-120"/>
              </a:rPr>
              <a:t>H2: Turnover differs across states/territories (uneven contribution).</a:t>
            </a:r>
            <a:endParaRPr lang="en-US" sz="1200" dirty="0"/>
          </a:p>
          <a:p>
            <a:pPr marL="0" indent="0">
              <a:lnSpc>
                <a:spcPct val="115000"/>
              </a:lnSpc>
              <a:buNone/>
            </a:pPr>
            <a:r>
              <a:rPr lang="en-US" sz="1200" dirty="0">
                <a:solidFill>
                  <a:srgbClr val="4B5563"/>
                </a:solidFill>
                <a:latin typeface="Calibri" pitchFamily="34" charset="0"/>
                <a:ea typeface="Calibri" pitchFamily="34" charset="-122"/>
                <a:cs typeface="Calibri" pitchFamily="34" charset="-120"/>
              </a:rPr>
              <a:t>H3: Turnover has recurring seasonal peaks (e.g., holiday months).</a:t>
            </a:r>
            <a:endParaRPr lang="en-US" sz="1200" dirty="0"/>
          </a:p>
          <a:p>
            <a:pPr marL="0" indent="0">
              <a:lnSpc>
                <a:spcPct val="115000"/>
              </a:lnSpc>
              <a:buNone/>
            </a:pPr>
            <a:r>
              <a:rPr lang="en-US" sz="1200" dirty="0">
                <a:solidFill>
                  <a:srgbClr val="4B5563"/>
                </a:solidFill>
                <a:latin typeface="Calibri" pitchFamily="34" charset="0"/>
                <a:ea typeface="Calibri" pitchFamily="34" charset="-122"/>
                <a:cs typeface="Calibri" pitchFamily="34" charset="-120"/>
              </a:rPr>
              <a:t>H4: Time-series forecasting predicts short-term turnover within a confidence range.</a:t>
            </a:r>
            <a:endParaRPr lang="en-US" sz="1200" dirty="0"/>
          </a:p>
        </p:txBody>
      </p:sp>
      <p:sp>
        <p:nvSpPr>
          <p:cNvPr id="10" name="Shape 8"/>
          <p:cNvSpPr/>
          <p:nvPr/>
        </p:nvSpPr>
        <p:spPr>
          <a:xfrm>
            <a:off x="6766560" y="914400"/>
            <a:ext cx="4663440" cy="539496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11" name="Text 9"/>
          <p:cNvSpPr/>
          <p:nvPr/>
        </p:nvSpPr>
        <p:spPr>
          <a:xfrm>
            <a:off x="7269480" y="1102593"/>
            <a:ext cx="4114800" cy="365760"/>
          </a:xfrm>
          <a:prstGeom prst="rect">
            <a:avLst/>
          </a:prstGeom>
          <a:noFill/>
          <a:ln/>
        </p:spPr>
        <p:txBody>
          <a:bodyPr wrap="square" rtlCol="0" anchor="ctr"/>
          <a:lstStyle/>
          <a:p>
            <a:pPr marL="0" indent="0">
              <a:buNone/>
            </a:pPr>
            <a:r>
              <a:rPr lang="en-US" sz="2000" b="1" dirty="0">
                <a:solidFill>
                  <a:srgbClr val="111827"/>
                </a:solidFill>
                <a:latin typeface="Calibri" pitchFamily="34" charset="0"/>
                <a:ea typeface="Calibri" pitchFamily="34" charset="-122"/>
                <a:cs typeface="Calibri" pitchFamily="34" charset="-120"/>
              </a:rPr>
              <a:t>Analytics layers (what we did)</a:t>
            </a:r>
            <a:endParaRPr lang="en-US" sz="2000" dirty="0"/>
          </a:p>
        </p:txBody>
      </p:sp>
      <p:sp>
        <p:nvSpPr>
          <p:cNvPr id="12" name="Shape 10"/>
          <p:cNvSpPr/>
          <p:nvPr/>
        </p:nvSpPr>
        <p:spPr>
          <a:xfrm>
            <a:off x="7040880" y="1600200"/>
            <a:ext cx="4114800" cy="4526280"/>
          </a:xfrm>
          <a:prstGeom prst="roundRect">
            <a:avLst/>
          </a:prstGeom>
          <a:solidFill>
            <a:srgbClr val="EFF6FF"/>
          </a:solidFill>
          <a:ln w="12700">
            <a:solidFill>
              <a:srgbClr val="BFDBFE"/>
            </a:solidFill>
            <a:prstDash val="solid"/>
          </a:ln>
        </p:spPr>
        <p:txBody>
          <a:bodyPr/>
          <a:lstStyle/>
          <a:p>
            <a:endParaRPr lang="en-US"/>
          </a:p>
        </p:txBody>
      </p:sp>
      <p:sp>
        <p:nvSpPr>
          <p:cNvPr id="13" name="Text 11"/>
          <p:cNvSpPr/>
          <p:nvPr/>
        </p:nvSpPr>
        <p:spPr>
          <a:xfrm>
            <a:off x="7269480" y="1920240"/>
            <a:ext cx="3657600" cy="2194560"/>
          </a:xfrm>
          <a:prstGeom prst="rect">
            <a:avLst/>
          </a:prstGeom>
          <a:noFill/>
          <a:ln/>
        </p:spPr>
        <p:txBody>
          <a:bodyPr wrap="square" rtlCol="0" anchor="ctr"/>
          <a:lstStyle/>
          <a:p>
            <a:pPr marL="0" indent="0">
              <a:lnSpc>
                <a:spcPct val="110000"/>
              </a:lnSpc>
              <a:buNone/>
            </a:pPr>
            <a:r>
              <a:rPr lang="en-US" sz="1500" dirty="0">
                <a:solidFill>
                  <a:srgbClr val="111827"/>
                </a:solidFill>
                <a:latin typeface="Calibri" pitchFamily="34" charset="0"/>
                <a:ea typeface="Calibri" pitchFamily="34" charset="-122"/>
                <a:cs typeface="Calibri" pitchFamily="34" charset="-120"/>
              </a:rPr>
              <a:t>Descriptive analytics:</a:t>
            </a:r>
            <a:endParaRPr lang="en-US" sz="1500" dirty="0"/>
          </a:p>
          <a:p>
            <a:pPr marL="0" indent="0">
              <a:lnSpc>
                <a:spcPct val="110000"/>
              </a:lnSpc>
              <a:buNone/>
            </a:pPr>
            <a:r>
              <a:rPr lang="en-US" sz="1500" dirty="0">
                <a:solidFill>
                  <a:srgbClr val="111827"/>
                </a:solidFill>
                <a:latin typeface="Calibri" pitchFamily="34" charset="0"/>
                <a:ea typeface="Calibri" pitchFamily="34" charset="-122"/>
                <a:cs typeface="Calibri" pitchFamily="34" charset="-120"/>
              </a:rPr>
              <a:t>• Trends over time</a:t>
            </a:r>
            <a:endParaRPr lang="en-US" sz="1500" dirty="0"/>
          </a:p>
          <a:p>
            <a:pPr marL="0" indent="0">
              <a:lnSpc>
                <a:spcPct val="110000"/>
              </a:lnSpc>
              <a:buNone/>
            </a:pPr>
            <a:r>
              <a:rPr lang="en-US" sz="1500" dirty="0">
                <a:solidFill>
                  <a:srgbClr val="111827"/>
                </a:solidFill>
                <a:latin typeface="Calibri" pitchFamily="34" charset="0"/>
                <a:ea typeface="Calibri" pitchFamily="34" charset="-122"/>
                <a:cs typeface="Calibri" pitchFamily="34" charset="-120"/>
              </a:rPr>
              <a:t>• State/industry comparisons</a:t>
            </a:r>
            <a:endParaRPr lang="en-US" sz="1500" dirty="0"/>
          </a:p>
          <a:p>
            <a:pPr marL="0" indent="0">
              <a:lnSpc>
                <a:spcPct val="110000"/>
              </a:lnSpc>
              <a:buNone/>
            </a:pPr>
            <a:r>
              <a:rPr lang="en-US" sz="1500" dirty="0">
                <a:solidFill>
                  <a:srgbClr val="111827"/>
                </a:solidFill>
                <a:latin typeface="Calibri" pitchFamily="34" charset="0"/>
                <a:ea typeface="Calibri" pitchFamily="34" charset="-122"/>
                <a:cs typeface="Calibri" pitchFamily="34" charset="-120"/>
              </a:rPr>
              <a:t>• Seasonality (heatmap)</a:t>
            </a:r>
            <a:endParaRPr lang="en-US" sz="1500" dirty="0"/>
          </a:p>
          <a:p>
            <a:pPr marL="0" indent="0">
              <a:lnSpc>
                <a:spcPct val="110000"/>
              </a:lnSpc>
              <a:buNone/>
            </a:pPr>
            <a:endParaRPr lang="en-US" sz="1500" dirty="0"/>
          </a:p>
          <a:p>
            <a:pPr marL="0" indent="0">
              <a:lnSpc>
                <a:spcPct val="110000"/>
              </a:lnSpc>
              <a:buNone/>
            </a:pPr>
            <a:r>
              <a:rPr lang="en-US" sz="1500" dirty="0">
                <a:solidFill>
                  <a:srgbClr val="111827"/>
                </a:solidFill>
                <a:latin typeface="Calibri" pitchFamily="34" charset="0"/>
                <a:ea typeface="Calibri" pitchFamily="34" charset="-122"/>
                <a:cs typeface="Calibri" pitchFamily="34" charset="-120"/>
              </a:rPr>
              <a:t>Predictive analytics:</a:t>
            </a:r>
            <a:endParaRPr lang="en-US" sz="1500" dirty="0"/>
          </a:p>
          <a:p>
            <a:pPr marL="0" indent="0">
              <a:lnSpc>
                <a:spcPct val="110000"/>
              </a:lnSpc>
              <a:buNone/>
            </a:pPr>
            <a:r>
              <a:rPr lang="en-US" sz="1500" dirty="0">
                <a:solidFill>
                  <a:srgbClr val="111827"/>
                </a:solidFill>
                <a:latin typeface="Calibri" pitchFamily="34" charset="0"/>
                <a:ea typeface="Calibri" pitchFamily="34" charset="-122"/>
                <a:cs typeface="Calibri" pitchFamily="34" charset="-120"/>
              </a:rPr>
              <a:t>• Forecasting (time series)</a:t>
            </a:r>
            <a:endParaRPr lang="en-US" sz="1500" dirty="0"/>
          </a:p>
          <a:p>
            <a:pPr marL="0" indent="0">
              <a:lnSpc>
                <a:spcPct val="110000"/>
              </a:lnSpc>
              <a:buNone/>
            </a:pPr>
            <a:r>
              <a:rPr lang="en-US" sz="1500" dirty="0">
                <a:solidFill>
                  <a:srgbClr val="111827"/>
                </a:solidFill>
                <a:latin typeface="Calibri" pitchFamily="34" charset="0"/>
                <a:ea typeface="Calibri" pitchFamily="34" charset="-122"/>
                <a:cs typeface="Calibri" pitchFamily="34" charset="-120"/>
              </a:rPr>
              <a:t>• Trend model / regression (R², equation)</a:t>
            </a:r>
            <a:endParaRPr lang="en-US" sz="15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563EB"/>
          </a:solidFill>
          <a:ln w="12700">
            <a:solidFill>
              <a:srgbClr val="2563EB"/>
            </a:solidFill>
            <a:prstDash val="solid"/>
          </a:ln>
        </p:spPr>
        <p:txBody>
          <a:bodyPr/>
          <a:lstStyle/>
          <a:p>
            <a:endParaRPr/>
          </a:p>
        </p:txBody>
      </p:sp>
      <p:sp>
        <p:nvSpPr>
          <p:cNvPr id="3" name="Text 1"/>
          <p:cNvSpPr/>
          <p:nvPr/>
        </p:nvSpPr>
        <p:spPr>
          <a:xfrm>
            <a:off x="548640" y="109728"/>
            <a:ext cx="11094415" cy="27432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Data preparation &amp; readiness checks</a:t>
            </a:r>
            <a:endParaRPr lang="en-US" sz="1800" dirty="0"/>
          </a:p>
        </p:txBody>
      </p:sp>
      <p:sp>
        <p:nvSpPr>
          <p:cNvPr id="4" name="Shape 2"/>
          <p:cNvSpPr/>
          <p:nvPr/>
        </p:nvSpPr>
        <p:spPr>
          <a:xfrm>
            <a:off x="731520" y="914400"/>
            <a:ext cx="5120640" cy="539496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5" name="Text 3"/>
          <p:cNvSpPr/>
          <p:nvPr/>
        </p:nvSpPr>
        <p:spPr>
          <a:xfrm>
            <a:off x="960120" y="1737360"/>
            <a:ext cx="4572000" cy="365760"/>
          </a:xfrm>
          <a:prstGeom prst="rect">
            <a:avLst/>
          </a:prstGeom>
          <a:noFill/>
          <a:ln/>
        </p:spPr>
        <p:txBody>
          <a:bodyPr wrap="square" rtlCol="0" anchor="ctr"/>
          <a:lstStyle/>
          <a:p>
            <a:pPr marL="0" indent="0">
              <a:buNone/>
            </a:pPr>
            <a:r>
              <a:rPr lang="en-US" sz="2000" b="1" dirty="0">
                <a:solidFill>
                  <a:srgbClr val="111827"/>
                </a:solidFill>
                <a:latin typeface="Calibri" pitchFamily="34" charset="0"/>
                <a:ea typeface="Calibri" pitchFamily="34" charset="-122"/>
                <a:cs typeface="Calibri" pitchFamily="34" charset="-120"/>
              </a:rPr>
              <a:t>What we prepared / cleaned</a:t>
            </a:r>
            <a:endParaRPr lang="en-US" sz="2000" dirty="0"/>
          </a:p>
        </p:txBody>
      </p:sp>
      <p:sp>
        <p:nvSpPr>
          <p:cNvPr id="6" name="Text 4"/>
          <p:cNvSpPr/>
          <p:nvPr/>
        </p:nvSpPr>
        <p:spPr>
          <a:xfrm>
            <a:off x="960120" y="2034540"/>
            <a:ext cx="4663440" cy="1691640"/>
          </a:xfrm>
          <a:prstGeom prst="rect">
            <a:avLst/>
          </a:prstGeom>
          <a:noFill/>
          <a:ln/>
        </p:spPr>
        <p:txBody>
          <a:bodyPr wrap="square" rtlCol="0" anchor="ctr"/>
          <a:lstStyle/>
          <a:p>
            <a:pPr marL="228600" indent="-228600">
              <a:lnSpc>
                <a:spcPct val="115000"/>
              </a:lnSpc>
              <a:buSzPct val="100000"/>
              <a:buChar char="•"/>
            </a:pPr>
            <a:r>
              <a:rPr lang="en-US" sz="1400" dirty="0">
                <a:solidFill>
                  <a:srgbClr val="111827"/>
                </a:solidFill>
                <a:latin typeface="Calibri" pitchFamily="34" charset="0"/>
                <a:ea typeface="Calibri" pitchFamily="34" charset="-122"/>
                <a:cs typeface="Calibri" pitchFamily="34" charset="-120"/>
              </a:rPr>
              <a:t>Converted Month to a proper Date type</a:t>
            </a:r>
            <a:endParaRPr lang="en-US" sz="1400" dirty="0"/>
          </a:p>
          <a:p>
            <a:pPr marL="228600" indent="-228600">
              <a:lnSpc>
                <a:spcPct val="115000"/>
              </a:lnSpc>
              <a:buSzPct val="100000"/>
              <a:buChar char="•"/>
            </a:pPr>
            <a:r>
              <a:rPr lang="en-US" sz="1400" dirty="0">
                <a:solidFill>
                  <a:srgbClr val="111827"/>
                </a:solidFill>
                <a:latin typeface="Calibri" pitchFamily="34" charset="0"/>
                <a:ea typeface="Calibri" pitchFamily="34" charset="-122"/>
                <a:cs typeface="Calibri" pitchFamily="34" charset="-120"/>
              </a:rPr>
              <a:t>Created Turnover_Clean to remove invalid negatives</a:t>
            </a:r>
            <a:endParaRPr lang="en-US" sz="1400" dirty="0"/>
          </a:p>
          <a:p>
            <a:pPr marL="228600" indent="-228600">
              <a:lnSpc>
                <a:spcPct val="115000"/>
              </a:lnSpc>
              <a:buSzPct val="100000"/>
              <a:buChar char="•"/>
            </a:pPr>
            <a:r>
              <a:rPr lang="en-US" sz="1400" dirty="0">
                <a:solidFill>
                  <a:srgbClr val="111827"/>
                </a:solidFill>
                <a:latin typeface="Calibri" pitchFamily="34" charset="0"/>
                <a:ea typeface="Calibri" pitchFamily="34" charset="-122"/>
                <a:cs typeface="Calibri" pitchFamily="34" charset="-120"/>
              </a:rPr>
              <a:t>Created Year, Month Name, Year-Month fields for analysis</a:t>
            </a:r>
            <a:endParaRPr lang="en-US" sz="1400" dirty="0"/>
          </a:p>
          <a:p>
            <a:pPr marL="228600" indent="-228600">
              <a:lnSpc>
                <a:spcPct val="115000"/>
              </a:lnSpc>
              <a:buSzPct val="100000"/>
              <a:buChar char="•"/>
            </a:pPr>
            <a:r>
              <a:rPr lang="en-US" sz="1400" dirty="0">
                <a:solidFill>
                  <a:srgbClr val="111827"/>
                </a:solidFill>
                <a:latin typeface="Calibri" pitchFamily="34" charset="0"/>
                <a:ea typeface="Calibri" pitchFamily="34" charset="-122"/>
                <a:cs typeface="Calibri" pitchFamily="34" charset="-120"/>
              </a:rPr>
              <a:t>Checked missing values (State/Industry)</a:t>
            </a:r>
            <a:endParaRPr lang="en-US" sz="1400" dirty="0"/>
          </a:p>
          <a:p>
            <a:pPr marL="228600" indent="-228600">
              <a:lnSpc>
                <a:spcPct val="115000"/>
              </a:lnSpc>
              <a:buSzPct val="100000"/>
              <a:buChar char="•"/>
            </a:pPr>
            <a:r>
              <a:rPr lang="en-US" sz="1400" dirty="0">
                <a:solidFill>
                  <a:srgbClr val="111827"/>
                </a:solidFill>
                <a:latin typeface="Calibri" pitchFamily="34" charset="0"/>
                <a:ea typeface="Calibri" pitchFamily="34" charset="-122"/>
                <a:cs typeface="Calibri" pitchFamily="34" charset="-120"/>
              </a:rPr>
              <a:t>Checked duplicates (State–Industry–Month uniqueness)</a:t>
            </a:r>
            <a:endParaRPr lang="en-US" sz="1400" dirty="0"/>
          </a:p>
          <a:p>
            <a:pPr marL="228600" indent="-228600">
              <a:lnSpc>
                <a:spcPct val="115000"/>
              </a:lnSpc>
              <a:buSzPct val="100000"/>
              <a:buChar char="•"/>
            </a:pPr>
            <a:r>
              <a:rPr lang="en-US" sz="1400" dirty="0">
                <a:solidFill>
                  <a:srgbClr val="111827"/>
                </a:solidFill>
                <a:latin typeface="Calibri" pitchFamily="34" charset="0"/>
                <a:ea typeface="Calibri" pitchFamily="34" charset="-122"/>
                <a:cs typeface="Calibri" pitchFamily="34" charset="-120"/>
              </a:rPr>
              <a:t>Reviewed distribution/outliers with histogram</a:t>
            </a:r>
            <a:endParaRPr lang="en-US" sz="1400" dirty="0"/>
          </a:p>
        </p:txBody>
      </p:sp>
      <p:sp>
        <p:nvSpPr>
          <p:cNvPr id="7" name="Shape 5"/>
          <p:cNvSpPr/>
          <p:nvPr/>
        </p:nvSpPr>
        <p:spPr>
          <a:xfrm>
            <a:off x="6263640" y="960120"/>
            <a:ext cx="5486400" cy="539496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8" name="Text 6"/>
          <p:cNvSpPr/>
          <p:nvPr/>
        </p:nvSpPr>
        <p:spPr>
          <a:xfrm>
            <a:off x="7628238" y="1074043"/>
            <a:ext cx="2520778" cy="365760"/>
          </a:xfrm>
          <a:prstGeom prst="rect">
            <a:avLst/>
          </a:prstGeom>
          <a:noFill/>
          <a:ln/>
        </p:spPr>
        <p:txBody>
          <a:bodyPr wrap="square" rtlCol="0" anchor="ctr"/>
          <a:lstStyle/>
          <a:p>
            <a:pPr marL="0" indent="0">
              <a:buNone/>
            </a:pPr>
            <a:r>
              <a:rPr lang="en-US" sz="2000" b="1" dirty="0">
                <a:solidFill>
                  <a:srgbClr val="111827"/>
                </a:solidFill>
                <a:latin typeface="Calibri" pitchFamily="34" charset="0"/>
                <a:ea typeface="Calibri" pitchFamily="34" charset="-122"/>
                <a:cs typeface="Calibri" pitchFamily="34" charset="-120"/>
              </a:rPr>
              <a:t>Screenshots evidence</a:t>
            </a:r>
            <a:endParaRPr lang="en-US" sz="2000" dirty="0"/>
          </a:p>
        </p:txBody>
      </p:sp>
      <p:sp>
        <p:nvSpPr>
          <p:cNvPr id="10" name="Text 8"/>
          <p:cNvSpPr/>
          <p:nvPr/>
        </p:nvSpPr>
        <p:spPr>
          <a:xfrm>
            <a:off x="6629400" y="1783080"/>
            <a:ext cx="2148840" cy="1783080"/>
          </a:xfrm>
          <a:prstGeom prst="rect">
            <a:avLst/>
          </a:prstGeom>
          <a:noFill/>
          <a:ln/>
        </p:spPr>
        <p:txBody>
          <a:bodyPr wrap="square" rtlCol="0" anchor="t"/>
          <a:lstStyle/>
          <a:p>
            <a:pPr marL="0" indent="0">
              <a:buNone/>
            </a:pPr>
            <a:endParaRPr lang="en-US" sz="1200" dirty="0"/>
          </a:p>
        </p:txBody>
      </p:sp>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52238" y="1567078"/>
            <a:ext cx="2427205" cy="2090522"/>
          </a:xfrm>
          <a:prstGeom prst="rect">
            <a:avLst/>
          </a:prstGeom>
        </p:spPr>
      </p:pic>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0800" y="1567078"/>
            <a:ext cx="2703282" cy="2090522"/>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00800" y="3726180"/>
            <a:ext cx="5178643" cy="216387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563EB"/>
          </a:solidFill>
          <a:ln w="12700">
            <a:solidFill>
              <a:srgbClr val="2563EB"/>
            </a:solidFill>
            <a:prstDash val="solid"/>
          </a:ln>
        </p:spPr>
        <p:txBody>
          <a:bodyPr/>
          <a:lstStyle/>
          <a:p>
            <a:endParaRPr/>
          </a:p>
        </p:txBody>
      </p:sp>
      <p:sp>
        <p:nvSpPr>
          <p:cNvPr id="3" name="Text 1"/>
          <p:cNvSpPr/>
          <p:nvPr/>
        </p:nvSpPr>
        <p:spPr>
          <a:xfrm>
            <a:off x="548640" y="109728"/>
            <a:ext cx="11094415" cy="27432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Descriptive Insight 1: Overall trend</a:t>
            </a:r>
            <a:endParaRPr lang="en-US" sz="1800" dirty="0"/>
          </a:p>
        </p:txBody>
      </p:sp>
      <p:sp>
        <p:nvSpPr>
          <p:cNvPr id="4" name="Shape 2"/>
          <p:cNvSpPr/>
          <p:nvPr/>
        </p:nvSpPr>
        <p:spPr>
          <a:xfrm>
            <a:off x="685799" y="914400"/>
            <a:ext cx="11061357" cy="539496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5" name="Text 3"/>
          <p:cNvSpPr/>
          <p:nvPr/>
        </p:nvSpPr>
        <p:spPr>
          <a:xfrm>
            <a:off x="4201556" y="981777"/>
            <a:ext cx="3788582" cy="365760"/>
          </a:xfrm>
          <a:prstGeom prst="rect">
            <a:avLst/>
          </a:prstGeom>
          <a:noFill/>
          <a:ln/>
        </p:spPr>
        <p:txBody>
          <a:bodyPr wrap="square" rtlCol="0" anchor="ctr"/>
          <a:lstStyle/>
          <a:p>
            <a:pPr marL="0" indent="0">
              <a:buNone/>
            </a:pPr>
            <a:r>
              <a:rPr lang="en-US" sz="1800" b="1" dirty="0">
                <a:solidFill>
                  <a:srgbClr val="111827"/>
                </a:solidFill>
                <a:latin typeface="Calibri" pitchFamily="34" charset="0"/>
                <a:ea typeface="Calibri" pitchFamily="34" charset="-122"/>
                <a:cs typeface="Calibri" pitchFamily="34" charset="-120"/>
              </a:rPr>
              <a:t>How total turnover changes over time</a:t>
            </a:r>
            <a:endParaRPr lang="en-US" sz="1800" dirty="0"/>
          </a:p>
        </p:txBody>
      </p:sp>
      <p:sp>
        <p:nvSpPr>
          <p:cNvPr id="10" name="Text 8"/>
          <p:cNvSpPr/>
          <p:nvPr/>
        </p:nvSpPr>
        <p:spPr>
          <a:xfrm>
            <a:off x="1676811" y="5246267"/>
            <a:ext cx="10070345" cy="906574"/>
          </a:xfrm>
          <a:prstGeom prst="rect">
            <a:avLst/>
          </a:prstGeom>
          <a:noFill/>
          <a:ln/>
        </p:spPr>
        <p:txBody>
          <a:bodyPr wrap="square" rtlCol="0" anchor="ctr"/>
          <a:lstStyle/>
          <a:p>
            <a:pPr marL="203200" indent="-203200">
              <a:lnSpc>
                <a:spcPct val="115000"/>
              </a:lnSpc>
              <a:buSzPct val="100000"/>
              <a:buChar char="•"/>
            </a:pPr>
            <a:r>
              <a:rPr lang="en-US" sz="1400" dirty="0"/>
              <a:t>On the whole, the retail turnover in Australia has been steadily increasing over the years, with the most rapid growth being recorded after the year 2000 and, more so, after 2013.</a:t>
            </a:r>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1135" y="1558838"/>
            <a:ext cx="8690919" cy="368042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563EB"/>
          </a:solidFill>
          <a:ln w="12700">
            <a:solidFill>
              <a:srgbClr val="2563EB"/>
            </a:solidFill>
            <a:prstDash val="solid"/>
          </a:ln>
        </p:spPr>
        <p:txBody>
          <a:bodyPr/>
          <a:lstStyle/>
          <a:p>
            <a:endParaRPr/>
          </a:p>
        </p:txBody>
      </p:sp>
      <p:sp>
        <p:nvSpPr>
          <p:cNvPr id="3" name="Text 1"/>
          <p:cNvSpPr/>
          <p:nvPr/>
        </p:nvSpPr>
        <p:spPr>
          <a:xfrm>
            <a:off x="548640" y="109728"/>
            <a:ext cx="11094415" cy="27432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Descriptive Insight 2 : State differences</a:t>
            </a:r>
            <a:endParaRPr lang="en-US" sz="1800" dirty="0"/>
          </a:p>
        </p:txBody>
      </p:sp>
      <p:sp>
        <p:nvSpPr>
          <p:cNvPr id="4" name="Shape 2"/>
          <p:cNvSpPr/>
          <p:nvPr/>
        </p:nvSpPr>
        <p:spPr>
          <a:xfrm>
            <a:off x="362465" y="591641"/>
            <a:ext cx="11598875" cy="5742432"/>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5" name="Text 3"/>
          <p:cNvSpPr/>
          <p:nvPr/>
        </p:nvSpPr>
        <p:spPr>
          <a:xfrm>
            <a:off x="3098251" y="1085556"/>
            <a:ext cx="5444387" cy="365760"/>
          </a:xfrm>
          <a:prstGeom prst="rect">
            <a:avLst/>
          </a:prstGeom>
          <a:noFill/>
          <a:ln/>
        </p:spPr>
        <p:txBody>
          <a:bodyPr wrap="square" rtlCol="0" anchor="ctr"/>
          <a:lstStyle/>
          <a:p>
            <a:pPr marL="0" indent="0">
              <a:buNone/>
            </a:pPr>
            <a:r>
              <a:rPr lang="en-US" sz="1800" b="1" dirty="0">
                <a:solidFill>
                  <a:srgbClr val="111827"/>
                </a:solidFill>
                <a:latin typeface="Calibri" pitchFamily="34" charset="0"/>
                <a:ea typeface="Calibri" pitchFamily="34" charset="-122"/>
                <a:cs typeface="Calibri" pitchFamily="34" charset="-120"/>
              </a:rPr>
              <a:t>Which states contribute the most (and how they trend)</a:t>
            </a:r>
            <a:endParaRPr lang="en-US" sz="1800" dirty="0"/>
          </a:p>
        </p:txBody>
      </p:sp>
      <p:sp>
        <p:nvSpPr>
          <p:cNvPr id="10" name="Text 8"/>
          <p:cNvSpPr/>
          <p:nvPr/>
        </p:nvSpPr>
        <p:spPr>
          <a:xfrm>
            <a:off x="724776" y="4788714"/>
            <a:ext cx="10742141" cy="1259160"/>
          </a:xfrm>
          <a:prstGeom prst="rect">
            <a:avLst/>
          </a:prstGeom>
          <a:noFill/>
          <a:ln/>
        </p:spPr>
        <p:txBody>
          <a:bodyPr wrap="square" rtlCol="0" anchor="ctr"/>
          <a:lstStyle/>
          <a:p>
            <a:pPr marL="203200" indent="-203200">
              <a:lnSpc>
                <a:spcPct val="115000"/>
              </a:lnSpc>
              <a:buSzPct val="100000"/>
              <a:buChar char="•"/>
            </a:pPr>
            <a:r>
              <a:rPr lang="en-US" sz="1400" dirty="0"/>
              <a:t>The retail turnover is dominated by the larger states of NSW and Victoria, followed by Queensland, while the smaller territories account for a relatively smaller share.</a:t>
            </a:r>
          </a:p>
          <a:p>
            <a:pPr marL="203200" indent="-203200">
              <a:lnSpc>
                <a:spcPct val="115000"/>
              </a:lnSpc>
              <a:buSzPct val="100000"/>
              <a:buChar char="•"/>
            </a:pPr>
            <a:r>
              <a:rPr lang="en-US" sz="1400" dirty="0"/>
              <a:t>All the larger states record an increase in retail turnover over the years, with NSW and Victoria recording the most rapid growth, Queensland recording a steady growth, and South Australia recording the slowest growth among the top five states.</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7881" y="1572768"/>
            <a:ext cx="5107460" cy="3094494"/>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39482" y="1572767"/>
            <a:ext cx="5703573" cy="30944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563EB"/>
          </a:solidFill>
          <a:ln w="12700">
            <a:solidFill>
              <a:srgbClr val="2563EB"/>
            </a:solidFill>
            <a:prstDash val="solid"/>
          </a:ln>
        </p:spPr>
        <p:txBody>
          <a:bodyPr/>
          <a:lstStyle/>
          <a:p>
            <a:endParaRPr/>
          </a:p>
        </p:txBody>
      </p:sp>
      <p:sp>
        <p:nvSpPr>
          <p:cNvPr id="3" name="Text 1"/>
          <p:cNvSpPr/>
          <p:nvPr/>
        </p:nvSpPr>
        <p:spPr>
          <a:xfrm>
            <a:off x="548640" y="109728"/>
            <a:ext cx="11094415" cy="27432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Descriptive Insight 3: Industry leaders</a:t>
            </a:r>
            <a:endParaRPr lang="en-US" sz="1800" dirty="0"/>
          </a:p>
        </p:txBody>
      </p:sp>
      <p:sp>
        <p:nvSpPr>
          <p:cNvPr id="4" name="Shape 2"/>
          <p:cNvSpPr/>
          <p:nvPr/>
        </p:nvSpPr>
        <p:spPr>
          <a:xfrm>
            <a:off x="548640" y="772875"/>
            <a:ext cx="10911535" cy="539496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5" name="Text 3"/>
          <p:cNvSpPr/>
          <p:nvPr/>
        </p:nvSpPr>
        <p:spPr>
          <a:xfrm>
            <a:off x="4037365" y="811840"/>
            <a:ext cx="3269597" cy="365760"/>
          </a:xfrm>
          <a:prstGeom prst="rect">
            <a:avLst/>
          </a:prstGeom>
          <a:noFill/>
          <a:ln/>
        </p:spPr>
        <p:txBody>
          <a:bodyPr wrap="square" rtlCol="0" anchor="ctr"/>
          <a:lstStyle/>
          <a:p>
            <a:pPr marL="0" indent="0">
              <a:buNone/>
            </a:pPr>
            <a:r>
              <a:rPr lang="en-US" sz="1800" b="1" dirty="0">
                <a:solidFill>
                  <a:srgbClr val="111827"/>
                </a:solidFill>
                <a:latin typeface="Calibri" pitchFamily="34" charset="0"/>
                <a:ea typeface="Calibri" pitchFamily="34" charset="-122"/>
                <a:cs typeface="Calibri" pitchFamily="34" charset="-120"/>
              </a:rPr>
              <a:t>Top industries by total turnover</a:t>
            </a:r>
            <a:endParaRPr lang="en-US" sz="1800" dirty="0"/>
          </a:p>
        </p:txBody>
      </p:sp>
      <p:sp>
        <p:nvSpPr>
          <p:cNvPr id="10" name="Text 8"/>
          <p:cNvSpPr/>
          <p:nvPr/>
        </p:nvSpPr>
        <p:spPr>
          <a:xfrm>
            <a:off x="881448" y="4871157"/>
            <a:ext cx="10404389" cy="1064422"/>
          </a:xfrm>
          <a:prstGeom prst="rect">
            <a:avLst/>
          </a:prstGeom>
          <a:noFill/>
          <a:ln/>
        </p:spPr>
        <p:txBody>
          <a:bodyPr wrap="square" rtlCol="0" anchor="ctr"/>
          <a:lstStyle/>
          <a:p>
            <a:pPr marL="203200" indent="-203200">
              <a:lnSpc>
                <a:spcPct val="115000"/>
              </a:lnSpc>
              <a:buSzPct val="100000"/>
              <a:buChar char="•"/>
            </a:pPr>
            <a:r>
              <a:rPr lang="en-US" sz="1400" dirty="0"/>
              <a:t>The retail sector turnover is highly concentrated, with food and supermarket sectors contributing the most, and discretionary sectors such as clothing, electronics, and department stores contributing less.</a:t>
            </a:r>
          </a:p>
          <a:p>
            <a:pPr marL="203200" indent="-203200">
              <a:lnSpc>
                <a:spcPct val="115000"/>
              </a:lnSpc>
              <a:buSzPct val="100000"/>
              <a:buChar char="•"/>
            </a:pPr>
            <a:r>
              <a:rPr lang="en-US" sz="1400" dirty="0"/>
              <a:t>This analysis will enable the decision-maker to prioritize investment and forecasting in the essential sectors first and then use the discretionary sectors to track consumer confidence.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1535" y="1231393"/>
            <a:ext cx="9662983" cy="3535679"/>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563EB"/>
          </a:solidFill>
          <a:ln w="12700">
            <a:solidFill>
              <a:srgbClr val="2563EB"/>
            </a:solidFill>
            <a:prstDash val="solid"/>
          </a:ln>
        </p:spPr>
        <p:txBody>
          <a:bodyPr/>
          <a:lstStyle/>
          <a:p>
            <a:endParaRPr/>
          </a:p>
        </p:txBody>
      </p:sp>
      <p:sp>
        <p:nvSpPr>
          <p:cNvPr id="3" name="Text 1"/>
          <p:cNvSpPr/>
          <p:nvPr/>
        </p:nvSpPr>
        <p:spPr>
          <a:xfrm>
            <a:off x="548640" y="109728"/>
            <a:ext cx="11094415" cy="27432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Descriptive Insight 4: Seasonality</a:t>
            </a:r>
            <a:endParaRPr lang="en-US" sz="1800" dirty="0"/>
          </a:p>
        </p:txBody>
      </p:sp>
      <p:sp>
        <p:nvSpPr>
          <p:cNvPr id="4" name="Shape 2"/>
          <p:cNvSpPr/>
          <p:nvPr/>
        </p:nvSpPr>
        <p:spPr>
          <a:xfrm>
            <a:off x="731519" y="914400"/>
            <a:ext cx="10911535" cy="539496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5" name="Text 3"/>
          <p:cNvSpPr/>
          <p:nvPr/>
        </p:nvSpPr>
        <p:spPr>
          <a:xfrm>
            <a:off x="4581062" y="914400"/>
            <a:ext cx="4109857" cy="365760"/>
          </a:xfrm>
          <a:prstGeom prst="rect">
            <a:avLst/>
          </a:prstGeom>
          <a:noFill/>
          <a:ln/>
        </p:spPr>
        <p:txBody>
          <a:bodyPr wrap="square" rtlCol="0" anchor="ctr"/>
          <a:lstStyle/>
          <a:p>
            <a:pPr marL="0" indent="0">
              <a:buNone/>
            </a:pPr>
            <a:r>
              <a:rPr lang="en-US" sz="1800" b="1" dirty="0">
                <a:solidFill>
                  <a:srgbClr val="111827"/>
                </a:solidFill>
                <a:latin typeface="Calibri" pitchFamily="34" charset="0"/>
                <a:ea typeface="Calibri" pitchFamily="34" charset="-122"/>
                <a:cs typeface="Calibri" pitchFamily="34" charset="-120"/>
              </a:rPr>
              <a:t>Monthly patterns across years (heatmap)</a:t>
            </a:r>
            <a:endParaRPr lang="en-US" sz="1800" dirty="0"/>
          </a:p>
        </p:txBody>
      </p:sp>
      <p:sp>
        <p:nvSpPr>
          <p:cNvPr id="10" name="Text 8"/>
          <p:cNvSpPr/>
          <p:nvPr/>
        </p:nvSpPr>
        <p:spPr>
          <a:xfrm>
            <a:off x="1413459" y="5514696"/>
            <a:ext cx="9547654" cy="651696"/>
          </a:xfrm>
          <a:prstGeom prst="rect">
            <a:avLst/>
          </a:prstGeom>
          <a:noFill/>
          <a:ln/>
        </p:spPr>
        <p:txBody>
          <a:bodyPr wrap="square" rtlCol="0" anchor="ctr"/>
          <a:lstStyle/>
          <a:p>
            <a:pPr marL="203200" indent="-203200">
              <a:lnSpc>
                <a:spcPct val="115000"/>
              </a:lnSpc>
              <a:buSzPct val="100000"/>
              <a:buChar char="•"/>
            </a:pPr>
            <a:r>
              <a:rPr lang="en-US" sz="1400" dirty="0"/>
              <a:t>This heatmap provides information on the growth and seasonality of the turnover, which increases every year and also changes every month.</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4928" y="1417320"/>
            <a:ext cx="7977476" cy="392030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563EB"/>
          </a:solidFill>
          <a:ln w="12700">
            <a:solidFill>
              <a:srgbClr val="2563EB"/>
            </a:solidFill>
            <a:prstDash val="solid"/>
          </a:ln>
        </p:spPr>
        <p:txBody>
          <a:bodyPr/>
          <a:lstStyle/>
          <a:p>
            <a:endParaRPr/>
          </a:p>
        </p:txBody>
      </p:sp>
      <p:sp>
        <p:nvSpPr>
          <p:cNvPr id="3" name="Text 1"/>
          <p:cNvSpPr/>
          <p:nvPr/>
        </p:nvSpPr>
        <p:spPr>
          <a:xfrm>
            <a:off x="548640" y="109728"/>
            <a:ext cx="11094415" cy="27432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Predictive Analysis 1: Time-series forecast</a:t>
            </a:r>
            <a:endParaRPr lang="en-US" sz="1800" dirty="0"/>
          </a:p>
        </p:txBody>
      </p:sp>
      <p:sp>
        <p:nvSpPr>
          <p:cNvPr id="4" name="Shape 2"/>
          <p:cNvSpPr/>
          <p:nvPr/>
        </p:nvSpPr>
        <p:spPr>
          <a:xfrm>
            <a:off x="548639" y="800100"/>
            <a:ext cx="11094415" cy="5798408"/>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5" name="Text 3"/>
          <p:cNvSpPr/>
          <p:nvPr/>
        </p:nvSpPr>
        <p:spPr>
          <a:xfrm>
            <a:off x="3510143" y="800100"/>
            <a:ext cx="6675120" cy="365760"/>
          </a:xfrm>
          <a:prstGeom prst="rect">
            <a:avLst/>
          </a:prstGeom>
          <a:noFill/>
          <a:ln/>
        </p:spPr>
        <p:txBody>
          <a:bodyPr wrap="square" rtlCol="0" anchor="ctr"/>
          <a:lstStyle/>
          <a:p>
            <a:pPr marL="0" indent="0">
              <a:buNone/>
            </a:pPr>
            <a:r>
              <a:rPr lang="en-US" sz="1800" b="1" dirty="0">
                <a:solidFill>
                  <a:srgbClr val="111827"/>
                </a:solidFill>
                <a:latin typeface="Calibri" pitchFamily="34" charset="0"/>
                <a:ea typeface="Calibri" pitchFamily="34" charset="-122"/>
                <a:cs typeface="Calibri" pitchFamily="34" charset="-120"/>
              </a:rPr>
              <a:t>Forecasting future turnover (Tableau Forecast)</a:t>
            </a:r>
            <a:endParaRPr lang="en-US" sz="18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646" y="1165861"/>
            <a:ext cx="10058400" cy="4092641"/>
          </a:xfrm>
          <a:prstGeom prst="rect">
            <a:avLst/>
          </a:prstGeom>
        </p:spPr>
      </p:pic>
      <p:sp>
        <p:nvSpPr>
          <p:cNvPr id="16" name="Text 8"/>
          <p:cNvSpPr/>
          <p:nvPr/>
        </p:nvSpPr>
        <p:spPr>
          <a:xfrm>
            <a:off x="873211" y="5258502"/>
            <a:ext cx="10495005" cy="1340006"/>
          </a:xfrm>
          <a:prstGeom prst="rect">
            <a:avLst/>
          </a:prstGeom>
          <a:noFill/>
          <a:ln/>
        </p:spPr>
        <p:txBody>
          <a:bodyPr wrap="square" rtlCol="0" anchor="ctr"/>
          <a:lstStyle/>
          <a:p>
            <a:pPr marL="203200" indent="-203200">
              <a:lnSpc>
                <a:spcPct val="115000"/>
              </a:lnSpc>
              <a:buSzPct val="100000"/>
              <a:buChar char="•"/>
            </a:pPr>
            <a:r>
              <a:rPr lang="en-US" sz="1400" dirty="0"/>
              <a:t>This forecast indicates that retail turnover will continue to grow, and the shaded area represents the uncertainty of our predictions as we move further into the future.</a:t>
            </a:r>
          </a:p>
          <a:p>
            <a:pPr marL="203200" indent="-203200">
              <a:lnSpc>
                <a:spcPct val="115000"/>
              </a:lnSpc>
              <a:buSzPct val="100000"/>
              <a:buChar char="•"/>
            </a:pPr>
            <a:r>
              <a:rPr lang="en-US" sz="1400" dirty="0"/>
              <a:t>Forecast: This is a prediction based on past data. The confidence band represents risk/uncertainty and should be used for planning purposes rather than predictions.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563EB"/>
          </a:solidFill>
          <a:ln w="12700">
            <a:solidFill>
              <a:srgbClr val="2563EB"/>
            </a:solidFill>
            <a:prstDash val="solid"/>
          </a:ln>
        </p:spPr>
        <p:txBody>
          <a:bodyPr/>
          <a:lstStyle/>
          <a:p>
            <a:endParaRPr/>
          </a:p>
        </p:txBody>
      </p:sp>
      <p:sp>
        <p:nvSpPr>
          <p:cNvPr id="3" name="Text 1"/>
          <p:cNvSpPr/>
          <p:nvPr/>
        </p:nvSpPr>
        <p:spPr>
          <a:xfrm>
            <a:off x="548640" y="109728"/>
            <a:ext cx="11094415" cy="27432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Predictive Analysis 2: Trend model / regression</a:t>
            </a:r>
            <a:endParaRPr lang="en-US" sz="1800" dirty="0"/>
          </a:p>
        </p:txBody>
      </p:sp>
      <p:sp>
        <p:nvSpPr>
          <p:cNvPr id="4" name="Shape 2"/>
          <p:cNvSpPr/>
          <p:nvPr/>
        </p:nvSpPr>
        <p:spPr>
          <a:xfrm>
            <a:off x="548640" y="697550"/>
            <a:ext cx="11094415" cy="5845982"/>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5" name="Text 3"/>
          <p:cNvSpPr/>
          <p:nvPr/>
        </p:nvSpPr>
        <p:spPr>
          <a:xfrm>
            <a:off x="4343400" y="731520"/>
            <a:ext cx="6675120" cy="365760"/>
          </a:xfrm>
          <a:prstGeom prst="rect">
            <a:avLst/>
          </a:prstGeom>
          <a:noFill/>
          <a:ln/>
        </p:spPr>
        <p:txBody>
          <a:bodyPr wrap="square" rtlCol="0" anchor="ctr"/>
          <a:lstStyle/>
          <a:p>
            <a:pPr marL="0" indent="0">
              <a:buNone/>
            </a:pPr>
            <a:r>
              <a:rPr lang="en-US" sz="1800" b="1" dirty="0">
                <a:solidFill>
                  <a:srgbClr val="111827"/>
                </a:solidFill>
                <a:latin typeface="Calibri" pitchFamily="34" charset="0"/>
                <a:ea typeface="Calibri" pitchFamily="34" charset="-122"/>
                <a:cs typeface="Calibri" pitchFamily="34" charset="-120"/>
              </a:rPr>
              <a:t>Trend line model (with R²)</a:t>
            </a:r>
            <a:endParaRPr lang="en-US" sz="1800" dirty="0"/>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4482" y="1260373"/>
            <a:ext cx="5255741" cy="4175581"/>
          </a:xfrm>
          <a:prstGeom prst="rect">
            <a:avLst/>
          </a:prstGeom>
        </p:spPr>
      </p:pic>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80460" y="1259355"/>
            <a:ext cx="4338060" cy="4176599"/>
          </a:xfrm>
          <a:prstGeom prst="rect">
            <a:avLst/>
          </a:prstGeom>
        </p:spPr>
      </p:pic>
      <p:sp>
        <p:nvSpPr>
          <p:cNvPr id="20" name="Text 8"/>
          <p:cNvSpPr/>
          <p:nvPr/>
        </p:nvSpPr>
        <p:spPr>
          <a:xfrm>
            <a:off x="873211" y="5601402"/>
            <a:ext cx="10495005" cy="651696"/>
          </a:xfrm>
          <a:prstGeom prst="rect">
            <a:avLst/>
          </a:prstGeom>
          <a:noFill/>
          <a:ln/>
        </p:spPr>
        <p:txBody>
          <a:bodyPr wrap="square" rtlCol="0" anchor="ctr"/>
          <a:lstStyle/>
          <a:p>
            <a:pPr marL="203200" indent="-203200">
              <a:lnSpc>
                <a:spcPct val="115000"/>
              </a:lnSpc>
              <a:buSzPct val="100000"/>
              <a:buChar char="•"/>
            </a:pPr>
            <a:endParaRPr lang="en-US" sz="1200" dirty="0"/>
          </a:p>
        </p:txBody>
      </p:sp>
      <p:sp>
        <p:nvSpPr>
          <p:cNvPr id="22" name="TextBox 21"/>
          <p:cNvSpPr txBox="1"/>
          <p:nvPr/>
        </p:nvSpPr>
        <p:spPr>
          <a:xfrm>
            <a:off x="873211" y="5514434"/>
            <a:ext cx="9868930" cy="738664"/>
          </a:xfrm>
          <a:prstGeom prst="rect">
            <a:avLst/>
          </a:prstGeom>
          <a:noFill/>
        </p:spPr>
        <p:txBody>
          <a:bodyPr wrap="square" rtlCol="0">
            <a:spAutoFit/>
          </a:bodyPr>
          <a:lstStyle/>
          <a:p>
            <a:pPr marL="171450" lvl="0" indent="-171450" eaLnBrk="0" fontAlgn="base" hangingPunct="0">
              <a:spcBef>
                <a:spcPct val="0"/>
              </a:spcBef>
              <a:spcAft>
                <a:spcPct val="0"/>
              </a:spcAft>
              <a:buFont typeface="Arial" panose="020B0604020202020204" pitchFamily="34" charset="0"/>
              <a:buChar char="•"/>
            </a:pPr>
            <a:r>
              <a:rPr lang="en-US" sz="1400" dirty="0"/>
              <a:t>Turnover grows rapidly over time (slope = 15,306 per year, p-value &lt; 0.0001).</a:t>
            </a:r>
          </a:p>
          <a:p>
            <a:pPr marL="171450" lvl="0" indent="-171450" eaLnBrk="0" fontAlgn="base" hangingPunct="0">
              <a:spcBef>
                <a:spcPct val="0"/>
              </a:spcBef>
              <a:spcAft>
                <a:spcPct val="0"/>
              </a:spcAft>
              <a:buFont typeface="Arial" panose="020B0604020202020204" pitchFamily="34" charset="0"/>
              <a:buChar char="•"/>
            </a:pPr>
            <a:r>
              <a:rPr lang="en-US" sz="1400" dirty="0"/>
              <a:t>The trend line is a simple prediction tool, and the later years indicate that perhaps the growth is no longer linear.</a:t>
            </a:r>
          </a:p>
          <a:p>
            <a:pPr marL="171450" lvl="0" indent="-171450" eaLnBrk="0" fontAlgn="base" hangingPunct="0">
              <a:spcBef>
                <a:spcPct val="0"/>
              </a:spcBef>
              <a:spcAft>
                <a:spcPct val="0"/>
              </a:spcAft>
              <a:buFont typeface="Arial" panose="020B0604020202020204" pitchFamily="34" charset="0"/>
              <a:buChar char="•"/>
            </a:pPr>
            <a:r>
              <a:rPr lang="en-US" sz="1400" dirty="0"/>
              <a:t>The intercept is simply where the line would be if Year = 0, which doesn’t have any practical meaning.</a:t>
            </a:r>
            <a:endParaRPr lang="en-US" sz="2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563EB"/>
          </a:solidFill>
          <a:ln w="12700">
            <a:solidFill>
              <a:srgbClr val="2563EB"/>
            </a:solidFill>
            <a:prstDash val="solid"/>
          </a:ln>
        </p:spPr>
        <p:txBody>
          <a:bodyPr/>
          <a:lstStyle/>
          <a:p>
            <a:endParaRPr/>
          </a:p>
        </p:txBody>
      </p:sp>
      <p:sp>
        <p:nvSpPr>
          <p:cNvPr id="3" name="Text 1"/>
          <p:cNvSpPr/>
          <p:nvPr/>
        </p:nvSpPr>
        <p:spPr>
          <a:xfrm>
            <a:off x="548640" y="109728"/>
            <a:ext cx="11094415" cy="274320"/>
          </a:xfrm>
          <a:prstGeom prst="rect">
            <a:avLst/>
          </a:prstGeom>
          <a:noFill/>
          <a:ln/>
        </p:spPr>
        <p:txBody>
          <a:bodyPr wrap="square" rtlCol="0" anchor="ctr"/>
          <a:lstStyle/>
          <a:p>
            <a:r>
              <a:rPr lang="en-US" b="1" dirty="0">
                <a:solidFill>
                  <a:srgbClr val="FFFFFF"/>
                </a:solidFill>
              </a:rPr>
              <a:t>Analytics layers &amp; BI scenario &amp; Model evaluation &amp; modelling alternatives </a:t>
            </a:r>
            <a:endParaRPr lang="en-US" sz="1800" dirty="0"/>
          </a:p>
        </p:txBody>
      </p:sp>
      <p:sp>
        <p:nvSpPr>
          <p:cNvPr id="4" name="Shape 2"/>
          <p:cNvSpPr/>
          <p:nvPr/>
        </p:nvSpPr>
        <p:spPr>
          <a:xfrm>
            <a:off x="731520" y="914400"/>
            <a:ext cx="2797743" cy="539496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10" name="Shape 8"/>
          <p:cNvSpPr/>
          <p:nvPr/>
        </p:nvSpPr>
        <p:spPr>
          <a:xfrm>
            <a:off x="3657600" y="914400"/>
            <a:ext cx="2598821" cy="539496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14" name="Shape 2"/>
          <p:cNvSpPr/>
          <p:nvPr/>
        </p:nvSpPr>
        <p:spPr>
          <a:xfrm>
            <a:off x="6384758" y="914400"/>
            <a:ext cx="2797743" cy="539496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15" name="Shape 8"/>
          <p:cNvSpPr/>
          <p:nvPr/>
        </p:nvSpPr>
        <p:spPr>
          <a:xfrm>
            <a:off x="9310838" y="914400"/>
            <a:ext cx="2598821" cy="539496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16" name="TextBox 15"/>
          <p:cNvSpPr txBox="1"/>
          <p:nvPr/>
        </p:nvSpPr>
        <p:spPr>
          <a:xfrm>
            <a:off x="1260909" y="1044407"/>
            <a:ext cx="1418122" cy="338554"/>
          </a:xfrm>
          <a:prstGeom prst="rect">
            <a:avLst/>
          </a:prstGeom>
          <a:noFill/>
        </p:spPr>
        <p:txBody>
          <a:bodyPr wrap="square">
            <a:spAutoFit/>
          </a:bodyPr>
          <a:lstStyle/>
          <a:p>
            <a:r>
              <a:rPr sz="1600" b="1" dirty="0">
                <a:solidFill>
                  <a:srgbClr val="25375A"/>
                </a:solidFill>
                <a:latin typeface="Calibri"/>
              </a:rPr>
              <a:t>What we did</a:t>
            </a:r>
          </a:p>
        </p:txBody>
      </p:sp>
      <p:sp>
        <p:nvSpPr>
          <p:cNvPr id="17" name="TextBox 16"/>
          <p:cNvSpPr txBox="1"/>
          <p:nvPr/>
        </p:nvSpPr>
        <p:spPr>
          <a:xfrm>
            <a:off x="811730" y="1480998"/>
            <a:ext cx="2577966" cy="3031599"/>
          </a:xfrm>
          <a:prstGeom prst="rect">
            <a:avLst/>
          </a:prstGeom>
          <a:noFill/>
        </p:spPr>
        <p:txBody>
          <a:bodyPr wrap="square">
            <a:spAutoFit/>
          </a:bodyPr>
          <a:lstStyle/>
          <a:p>
            <a:pPr>
              <a:spcAft>
                <a:spcPts val="600"/>
              </a:spcAft>
              <a:defRPr sz="1600">
                <a:solidFill>
                  <a:srgbClr val="141414"/>
                </a:solidFill>
                <a:latin typeface="Calibri"/>
              </a:defRPr>
            </a:pPr>
            <a:r>
              <a:rPr b="1" dirty="0"/>
              <a:t>Descriptive</a:t>
            </a:r>
            <a:r>
              <a:rPr lang="en-US" b="1" dirty="0"/>
              <a:t>: </a:t>
            </a:r>
            <a:r>
              <a:rPr lang="en-US" sz="1600" dirty="0"/>
              <a:t>highlighted the trend, top states/industries with the highest turnover, and monthly seasonality.</a:t>
            </a:r>
            <a:endParaRPr dirty="0"/>
          </a:p>
          <a:p>
            <a:pPr algn="just">
              <a:spcAft>
                <a:spcPts val="600"/>
              </a:spcAft>
              <a:defRPr sz="1600">
                <a:solidFill>
                  <a:srgbClr val="141414"/>
                </a:solidFill>
                <a:latin typeface="Calibri"/>
              </a:defRPr>
            </a:pPr>
            <a:r>
              <a:rPr b="1" dirty="0"/>
              <a:t>Predictive</a:t>
            </a:r>
            <a:r>
              <a:rPr lang="en-US" b="1" dirty="0"/>
              <a:t>: </a:t>
            </a:r>
            <a:r>
              <a:rPr lang="en-US" sz="1600" dirty="0"/>
              <a:t>applied a simple forecast to predict the future turnover.</a:t>
            </a:r>
            <a:endParaRPr lang="en-US" dirty="0"/>
          </a:p>
          <a:p>
            <a:pPr>
              <a:spcAft>
                <a:spcPts val="600"/>
              </a:spcAft>
              <a:defRPr sz="1600">
                <a:solidFill>
                  <a:srgbClr val="141414"/>
                </a:solidFill>
                <a:latin typeface="Calibri"/>
              </a:defRPr>
            </a:pPr>
            <a:endParaRPr lang="en-US" dirty="0"/>
          </a:p>
          <a:p>
            <a:pPr>
              <a:spcAft>
                <a:spcPts val="600"/>
              </a:spcAft>
              <a:defRPr sz="1600">
                <a:solidFill>
                  <a:srgbClr val="141414"/>
                </a:solidFill>
                <a:latin typeface="Calibri"/>
              </a:defRPr>
            </a:pPr>
            <a:r>
              <a:rPr b="1" dirty="0"/>
              <a:t>Goal</a:t>
            </a:r>
            <a:r>
              <a:rPr lang="en-US" b="1" dirty="0"/>
              <a:t> :  </a:t>
            </a:r>
            <a:r>
              <a:rPr lang="en-US" sz="1600" dirty="0"/>
              <a:t>convert data into actions (stock, staff, and budgeting decisions).</a:t>
            </a:r>
            <a:endParaRPr dirty="0"/>
          </a:p>
        </p:txBody>
      </p:sp>
      <p:sp>
        <p:nvSpPr>
          <p:cNvPr id="18" name="TextBox 17"/>
          <p:cNvSpPr txBox="1"/>
          <p:nvPr/>
        </p:nvSpPr>
        <p:spPr>
          <a:xfrm>
            <a:off x="3834063" y="1019381"/>
            <a:ext cx="2361398" cy="338554"/>
          </a:xfrm>
          <a:prstGeom prst="rect">
            <a:avLst/>
          </a:prstGeom>
          <a:noFill/>
        </p:spPr>
        <p:txBody>
          <a:bodyPr wrap="square">
            <a:spAutoFit/>
          </a:bodyPr>
          <a:lstStyle/>
          <a:p>
            <a:r>
              <a:rPr sz="1600" b="1" dirty="0">
                <a:solidFill>
                  <a:srgbClr val="25375A"/>
                </a:solidFill>
                <a:latin typeface="Calibri"/>
              </a:rPr>
              <a:t>How stakeholders use it </a:t>
            </a:r>
          </a:p>
        </p:txBody>
      </p:sp>
      <p:sp>
        <p:nvSpPr>
          <p:cNvPr id="19" name="TextBox 18"/>
          <p:cNvSpPr txBox="1"/>
          <p:nvPr/>
        </p:nvSpPr>
        <p:spPr>
          <a:xfrm>
            <a:off x="3734602" y="1356844"/>
            <a:ext cx="2560320" cy="3785652"/>
          </a:xfrm>
          <a:prstGeom prst="rect">
            <a:avLst/>
          </a:prstGeom>
          <a:noFill/>
        </p:spPr>
        <p:txBody>
          <a:bodyPr wrap="square">
            <a:spAutoFit/>
          </a:bodyPr>
          <a:lstStyle/>
          <a:p>
            <a:pPr>
              <a:spcAft>
                <a:spcPts val="600"/>
              </a:spcAft>
              <a:defRPr sz="1500">
                <a:solidFill>
                  <a:srgbClr val="141414"/>
                </a:solidFill>
                <a:latin typeface="Calibri"/>
              </a:defRPr>
            </a:pPr>
            <a:r>
              <a:rPr b="1" dirty="0"/>
              <a:t>Operations</a:t>
            </a:r>
            <a:r>
              <a:rPr dirty="0"/>
              <a:t>: </a:t>
            </a:r>
            <a:r>
              <a:rPr lang="en-US" sz="1500" dirty="0"/>
              <a:t>make informed decisions about staffing and inventory to match peak periods.</a:t>
            </a:r>
          </a:p>
          <a:p>
            <a:pPr>
              <a:spcAft>
                <a:spcPts val="600"/>
              </a:spcAft>
              <a:defRPr sz="1500">
                <a:solidFill>
                  <a:srgbClr val="141414"/>
                </a:solidFill>
                <a:latin typeface="Calibri"/>
              </a:defRPr>
            </a:pPr>
            <a:r>
              <a:rPr b="1" dirty="0"/>
              <a:t>Finance</a:t>
            </a:r>
            <a:r>
              <a:rPr lang="en-US" dirty="0"/>
              <a:t>: </a:t>
            </a:r>
            <a:r>
              <a:rPr lang="en-US" sz="1500" dirty="0"/>
              <a:t>set budgets and track financials by applying (YoY/</a:t>
            </a:r>
            <a:r>
              <a:rPr lang="en-US" sz="1500" dirty="0" err="1"/>
              <a:t>MoM</a:t>
            </a:r>
            <a:r>
              <a:rPr lang="en-US" sz="1500" dirty="0"/>
              <a:t>) growth trends.</a:t>
            </a:r>
          </a:p>
          <a:p>
            <a:pPr>
              <a:spcAft>
                <a:spcPts val="600"/>
              </a:spcAft>
              <a:defRPr sz="1500">
                <a:solidFill>
                  <a:srgbClr val="141414"/>
                </a:solidFill>
                <a:latin typeface="Calibri"/>
              </a:defRPr>
            </a:pPr>
            <a:r>
              <a:rPr b="1" dirty="0"/>
              <a:t>Managers</a:t>
            </a:r>
            <a:r>
              <a:rPr lang="en-US" b="1" dirty="0"/>
              <a:t>: </a:t>
            </a:r>
            <a:r>
              <a:rPr lang="en-US" sz="1500" dirty="0"/>
              <a:t>review performance data for various states and industries to focus on poor-performing regions.</a:t>
            </a:r>
          </a:p>
          <a:p>
            <a:pPr>
              <a:spcAft>
                <a:spcPts val="600"/>
              </a:spcAft>
              <a:defRPr sz="1500">
                <a:solidFill>
                  <a:srgbClr val="141414"/>
                </a:solidFill>
                <a:latin typeface="Calibri"/>
              </a:defRPr>
            </a:pPr>
            <a:r>
              <a:rPr b="1" dirty="0"/>
              <a:t>Alerts: </a:t>
            </a:r>
            <a:r>
              <a:rPr lang="en-US" sz="1500" dirty="0"/>
              <a:t>receive notifications about unexpected changes to make informed decisions by reforecasting.</a:t>
            </a:r>
            <a:endParaRPr dirty="0"/>
          </a:p>
        </p:txBody>
      </p:sp>
      <p:sp>
        <p:nvSpPr>
          <p:cNvPr id="20" name="TextBox 19"/>
          <p:cNvSpPr txBox="1"/>
          <p:nvPr/>
        </p:nvSpPr>
        <p:spPr>
          <a:xfrm>
            <a:off x="6423259" y="1026350"/>
            <a:ext cx="2950143" cy="584775"/>
          </a:xfrm>
          <a:prstGeom prst="rect">
            <a:avLst/>
          </a:prstGeom>
          <a:noFill/>
        </p:spPr>
        <p:txBody>
          <a:bodyPr wrap="square">
            <a:spAutoFit/>
          </a:bodyPr>
          <a:lstStyle/>
          <a:p>
            <a:r>
              <a:rPr sz="1600" b="1" dirty="0">
                <a:solidFill>
                  <a:srgbClr val="25375A"/>
                </a:solidFill>
                <a:latin typeface="Calibri"/>
              </a:rPr>
              <a:t>How we would check the forecast</a:t>
            </a:r>
          </a:p>
        </p:txBody>
      </p:sp>
      <p:sp>
        <p:nvSpPr>
          <p:cNvPr id="21" name="TextBox 20"/>
          <p:cNvSpPr txBox="1"/>
          <p:nvPr/>
        </p:nvSpPr>
        <p:spPr>
          <a:xfrm>
            <a:off x="6423260" y="1587573"/>
            <a:ext cx="2640530" cy="3016210"/>
          </a:xfrm>
          <a:prstGeom prst="rect">
            <a:avLst/>
          </a:prstGeom>
          <a:noFill/>
        </p:spPr>
        <p:txBody>
          <a:bodyPr wrap="square">
            <a:spAutoFit/>
          </a:bodyPr>
          <a:lstStyle/>
          <a:p>
            <a:pPr>
              <a:spcAft>
                <a:spcPts val="600"/>
              </a:spcAft>
              <a:defRPr sz="1500">
                <a:solidFill>
                  <a:srgbClr val="141414"/>
                </a:solidFill>
                <a:latin typeface="Calibri"/>
              </a:defRPr>
            </a:pPr>
            <a:r>
              <a:rPr lang="en-US" sz="1500" dirty="0"/>
              <a:t>Set aside the last 12 months of data for testing purposes.</a:t>
            </a:r>
          </a:p>
          <a:p>
            <a:pPr>
              <a:spcAft>
                <a:spcPts val="600"/>
              </a:spcAft>
              <a:defRPr sz="1500">
                <a:solidFill>
                  <a:srgbClr val="141414"/>
                </a:solidFill>
                <a:latin typeface="Calibri"/>
              </a:defRPr>
            </a:pPr>
            <a:r>
              <a:rPr lang="en-US" sz="1500" dirty="0"/>
              <a:t>Test the accuracy of the model using MAE (Mean Absolute Error) and MAPE (Mean Absolute Percentage Error) and display the results in an Actual vs. Forecast graph.</a:t>
            </a:r>
          </a:p>
          <a:p>
            <a:pPr>
              <a:spcAft>
                <a:spcPts val="600"/>
              </a:spcAft>
              <a:defRPr sz="1500">
                <a:solidFill>
                  <a:srgbClr val="141414"/>
                </a:solidFill>
                <a:latin typeface="Calibri"/>
              </a:defRPr>
            </a:pPr>
            <a:r>
              <a:rPr lang="en-US" sz="1500" dirty="0"/>
              <a:t>Assess the forecast errors. If there are months that have errors, then it is a sign that the model requires improvement.</a:t>
            </a:r>
            <a:endParaRPr dirty="0"/>
          </a:p>
        </p:txBody>
      </p:sp>
      <p:sp>
        <p:nvSpPr>
          <p:cNvPr id="22" name="TextBox 21"/>
          <p:cNvSpPr txBox="1"/>
          <p:nvPr/>
        </p:nvSpPr>
        <p:spPr>
          <a:xfrm>
            <a:off x="9501739" y="1044407"/>
            <a:ext cx="2277822" cy="338554"/>
          </a:xfrm>
          <a:prstGeom prst="rect">
            <a:avLst/>
          </a:prstGeom>
          <a:noFill/>
        </p:spPr>
        <p:txBody>
          <a:bodyPr wrap="square">
            <a:spAutoFit/>
          </a:bodyPr>
          <a:lstStyle/>
          <a:p>
            <a:r>
              <a:rPr sz="1600" b="1" dirty="0">
                <a:solidFill>
                  <a:srgbClr val="25375A"/>
                </a:solidFill>
                <a:latin typeface="Calibri"/>
              </a:rPr>
              <a:t>Limits + better options </a:t>
            </a:r>
          </a:p>
        </p:txBody>
      </p:sp>
      <p:sp>
        <p:nvSpPr>
          <p:cNvPr id="23" name="TextBox 22"/>
          <p:cNvSpPr txBox="1"/>
          <p:nvPr/>
        </p:nvSpPr>
        <p:spPr>
          <a:xfrm>
            <a:off x="9411903" y="1472157"/>
            <a:ext cx="2497756" cy="3539430"/>
          </a:xfrm>
          <a:prstGeom prst="rect">
            <a:avLst/>
          </a:prstGeom>
          <a:noFill/>
        </p:spPr>
        <p:txBody>
          <a:bodyPr wrap="square">
            <a:spAutoFit/>
          </a:bodyPr>
          <a:lstStyle/>
          <a:p>
            <a:r>
              <a:rPr lang="en-US" sz="1600" dirty="0"/>
              <a:t>Simple linear trend models can sometimes neglect abrupt changes or variations in growth rates.</a:t>
            </a:r>
          </a:p>
          <a:p>
            <a:endParaRPr lang="en-US" sz="1600" dirty="0"/>
          </a:p>
          <a:p>
            <a:r>
              <a:rPr lang="en-US" sz="1600" dirty="0"/>
              <a:t>More complex patterns can be handled by including other variables such as lagged variables, rolling averages, or tree-based models. Models such as ETS or ARIMA can also be used to handle seasonality and trend variables.</a:t>
            </a:r>
          </a:p>
        </p:txBody>
      </p:sp>
    </p:spTree>
    <p:extLst>
      <p:ext uri="{BB962C8B-B14F-4D97-AF65-F5344CB8AC3E}">
        <p14:creationId xmlns:p14="http://schemas.microsoft.com/office/powerpoint/2010/main" val="3251871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563EB"/>
          </a:solidFill>
          <a:ln w="12700">
            <a:solidFill>
              <a:srgbClr val="2563EB"/>
            </a:solidFill>
            <a:prstDash val="solid"/>
          </a:ln>
        </p:spPr>
        <p:txBody>
          <a:bodyPr/>
          <a:lstStyle/>
          <a:p>
            <a:endParaRPr/>
          </a:p>
        </p:txBody>
      </p:sp>
      <p:sp>
        <p:nvSpPr>
          <p:cNvPr id="3" name="Text 1"/>
          <p:cNvSpPr/>
          <p:nvPr/>
        </p:nvSpPr>
        <p:spPr>
          <a:xfrm>
            <a:off x="548640" y="109728"/>
            <a:ext cx="11094415" cy="274320"/>
          </a:xfrm>
          <a:prstGeom prst="rect">
            <a:avLst/>
          </a:prstGeom>
          <a:noFill/>
          <a:ln/>
        </p:spPr>
        <p:txBody>
          <a:bodyPr wrap="square" rtlCol="0" anchor="ctr"/>
          <a:lstStyle/>
          <a:p>
            <a:r>
              <a:rPr lang="en-US" b="1" dirty="0">
                <a:solidFill>
                  <a:srgbClr val="FFFFFF"/>
                </a:solidFill>
              </a:rPr>
              <a:t>Big Data context &amp; scalable analytics pipeline &amp; Visualization rationale for stakeholders </a:t>
            </a:r>
            <a:endParaRPr lang="en-US" sz="1800" dirty="0"/>
          </a:p>
        </p:txBody>
      </p:sp>
      <p:sp>
        <p:nvSpPr>
          <p:cNvPr id="4" name="Shape 2"/>
          <p:cNvSpPr/>
          <p:nvPr/>
        </p:nvSpPr>
        <p:spPr>
          <a:xfrm>
            <a:off x="731520" y="914400"/>
            <a:ext cx="3391301" cy="539496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10" name="Shape 8"/>
          <p:cNvSpPr/>
          <p:nvPr/>
        </p:nvSpPr>
        <p:spPr>
          <a:xfrm>
            <a:off x="4283242" y="914400"/>
            <a:ext cx="3609473" cy="539496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14" name="Shape 2"/>
          <p:cNvSpPr/>
          <p:nvPr/>
        </p:nvSpPr>
        <p:spPr>
          <a:xfrm>
            <a:off x="8053137" y="914400"/>
            <a:ext cx="3589918" cy="539496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24" name="TextBox 23"/>
          <p:cNvSpPr txBox="1"/>
          <p:nvPr/>
        </p:nvSpPr>
        <p:spPr>
          <a:xfrm>
            <a:off x="930442" y="1124486"/>
            <a:ext cx="2577966" cy="338554"/>
          </a:xfrm>
          <a:prstGeom prst="rect">
            <a:avLst/>
          </a:prstGeom>
          <a:noFill/>
        </p:spPr>
        <p:txBody>
          <a:bodyPr wrap="square">
            <a:spAutoFit/>
          </a:bodyPr>
          <a:lstStyle/>
          <a:p>
            <a:r>
              <a:rPr sz="1600" b="1" dirty="0">
                <a:solidFill>
                  <a:srgbClr val="25375A"/>
                </a:solidFill>
                <a:latin typeface="Calibri"/>
              </a:rPr>
              <a:t>If this becomes ‘Big Data’</a:t>
            </a:r>
          </a:p>
        </p:txBody>
      </p:sp>
      <p:sp>
        <p:nvSpPr>
          <p:cNvPr id="25" name="TextBox 24"/>
          <p:cNvSpPr txBox="1"/>
          <p:nvPr/>
        </p:nvSpPr>
        <p:spPr>
          <a:xfrm>
            <a:off x="930442" y="1463040"/>
            <a:ext cx="3064042" cy="3046988"/>
          </a:xfrm>
          <a:prstGeom prst="rect">
            <a:avLst/>
          </a:prstGeom>
          <a:noFill/>
        </p:spPr>
        <p:txBody>
          <a:bodyPr wrap="square">
            <a:spAutoFit/>
          </a:bodyPr>
          <a:lstStyle/>
          <a:p>
            <a:r>
              <a:rPr lang="en-US" sz="1600" dirty="0"/>
              <a:t>Having data at the store and SKU level gives more insight than having data at the monthly level.</a:t>
            </a:r>
          </a:p>
          <a:p>
            <a:endParaRPr lang="en-US" sz="1600" dirty="0"/>
          </a:p>
          <a:p>
            <a:r>
              <a:rPr lang="en-US" sz="1600" dirty="0"/>
              <a:t>Having data at the daily or real-time level gives more lead time to react to changes in demand.</a:t>
            </a:r>
          </a:p>
          <a:p>
            <a:endParaRPr lang="en-US" sz="1600" dirty="0"/>
          </a:p>
          <a:p>
            <a:r>
              <a:rPr lang="en-US" sz="1600" dirty="0"/>
              <a:t>Adding other variables such as price, promotions, income levels, and population size gives more accurate forecasts.</a:t>
            </a:r>
          </a:p>
        </p:txBody>
      </p:sp>
      <p:sp>
        <p:nvSpPr>
          <p:cNvPr id="26" name="TextBox 25"/>
          <p:cNvSpPr txBox="1"/>
          <p:nvPr/>
        </p:nvSpPr>
        <p:spPr>
          <a:xfrm>
            <a:off x="4459705" y="1126025"/>
            <a:ext cx="3368155" cy="338554"/>
          </a:xfrm>
          <a:prstGeom prst="rect">
            <a:avLst/>
          </a:prstGeom>
          <a:noFill/>
        </p:spPr>
        <p:txBody>
          <a:bodyPr wrap="square">
            <a:spAutoFit/>
          </a:bodyPr>
          <a:lstStyle/>
          <a:p>
            <a:r>
              <a:rPr sz="1600" b="1" dirty="0">
                <a:solidFill>
                  <a:srgbClr val="25375A"/>
                </a:solidFill>
                <a:latin typeface="Calibri"/>
              </a:rPr>
              <a:t>Simple scalable workflow</a:t>
            </a:r>
          </a:p>
        </p:txBody>
      </p:sp>
      <p:sp>
        <p:nvSpPr>
          <p:cNvPr id="27" name="TextBox 26"/>
          <p:cNvSpPr txBox="1"/>
          <p:nvPr/>
        </p:nvSpPr>
        <p:spPr>
          <a:xfrm>
            <a:off x="4459705" y="1444526"/>
            <a:ext cx="3240506" cy="4031873"/>
          </a:xfrm>
          <a:prstGeom prst="rect">
            <a:avLst/>
          </a:prstGeom>
          <a:noFill/>
        </p:spPr>
        <p:txBody>
          <a:bodyPr wrap="square">
            <a:spAutoFit/>
          </a:bodyPr>
          <a:lstStyle/>
          <a:p>
            <a:r>
              <a:rPr lang="en-US" sz="1600" dirty="0"/>
              <a:t>A good data pipeline has a clear workflow: collect, clean, integrate, analyze, model, and monitor. This is an end-to-end process that supports scalable insights.</a:t>
            </a:r>
          </a:p>
          <a:p>
            <a:endParaRPr lang="en-US" sz="1600" dirty="0"/>
          </a:p>
          <a:p>
            <a:r>
              <a:rPr lang="en-US" sz="1600" dirty="0"/>
              <a:t>Data validation, such as checking for missing values and outliers, ensures that the data is reliable. A change log is used to record all changes made, which supports traceability.</a:t>
            </a:r>
          </a:p>
          <a:p>
            <a:endParaRPr lang="en-US" sz="1600" dirty="0"/>
          </a:p>
          <a:p>
            <a:r>
              <a:rPr lang="en-US" sz="1600" dirty="0"/>
              <a:t>Access control is used to protect sensitive data. Reporting is done at an aggregated level to ensure that sensitive data is not exposed</a:t>
            </a:r>
          </a:p>
        </p:txBody>
      </p:sp>
      <p:sp>
        <p:nvSpPr>
          <p:cNvPr id="28" name="TextBox 27"/>
          <p:cNvSpPr txBox="1"/>
          <p:nvPr/>
        </p:nvSpPr>
        <p:spPr>
          <a:xfrm>
            <a:off x="8251755" y="1126025"/>
            <a:ext cx="3391300" cy="338554"/>
          </a:xfrm>
          <a:prstGeom prst="rect">
            <a:avLst/>
          </a:prstGeom>
          <a:noFill/>
        </p:spPr>
        <p:txBody>
          <a:bodyPr wrap="square">
            <a:spAutoFit/>
          </a:bodyPr>
          <a:lstStyle/>
          <a:p>
            <a:r>
              <a:rPr sz="1600" b="1" dirty="0">
                <a:solidFill>
                  <a:srgbClr val="25375A"/>
                </a:solidFill>
                <a:latin typeface="Calibri"/>
              </a:rPr>
              <a:t>Why these charts (easy for decisions)</a:t>
            </a:r>
          </a:p>
        </p:txBody>
      </p:sp>
      <p:sp>
        <p:nvSpPr>
          <p:cNvPr id="29" name="TextBox 28"/>
          <p:cNvSpPr txBox="1"/>
          <p:nvPr/>
        </p:nvSpPr>
        <p:spPr>
          <a:xfrm>
            <a:off x="8343195" y="1446065"/>
            <a:ext cx="3126910" cy="4093428"/>
          </a:xfrm>
          <a:prstGeom prst="rect">
            <a:avLst/>
          </a:prstGeom>
          <a:noFill/>
        </p:spPr>
        <p:txBody>
          <a:bodyPr wrap="square">
            <a:spAutoFit/>
          </a:bodyPr>
          <a:lstStyle/>
          <a:p>
            <a:pPr>
              <a:spcAft>
                <a:spcPts val="600"/>
              </a:spcAft>
              <a:defRPr sz="1600">
                <a:solidFill>
                  <a:srgbClr val="141414"/>
                </a:solidFill>
                <a:latin typeface="Calibri"/>
              </a:defRPr>
            </a:pPr>
            <a:r>
              <a:rPr lang="en-US" sz="1600" b="1" dirty="0"/>
              <a:t>Line Chart:</a:t>
            </a:r>
            <a:r>
              <a:rPr lang="en-US" sz="1600" dirty="0"/>
              <a:t> Best for displaying trends over a period of time, making it easy to see where there is growth or a decline.</a:t>
            </a:r>
          </a:p>
          <a:p>
            <a:pPr>
              <a:spcAft>
                <a:spcPts val="600"/>
              </a:spcAft>
              <a:defRPr sz="1600">
                <a:solidFill>
                  <a:srgbClr val="141414"/>
                </a:solidFill>
                <a:latin typeface="Calibri"/>
              </a:defRPr>
            </a:pPr>
            <a:r>
              <a:rPr lang="en-US" sz="1600" b="1" dirty="0"/>
              <a:t>Bar Chart:</a:t>
            </a:r>
            <a:r>
              <a:rPr lang="en-US" sz="1600" dirty="0"/>
              <a:t> Excellent for comparing data from different states or industries.</a:t>
            </a:r>
          </a:p>
          <a:p>
            <a:pPr>
              <a:spcAft>
                <a:spcPts val="600"/>
              </a:spcAft>
              <a:defRPr sz="1600">
                <a:solidFill>
                  <a:srgbClr val="141414"/>
                </a:solidFill>
                <a:latin typeface="Calibri"/>
              </a:defRPr>
            </a:pPr>
            <a:r>
              <a:rPr lang="en-US" sz="1600" b="1" dirty="0"/>
              <a:t>Heatmap:</a:t>
            </a:r>
            <a:r>
              <a:rPr lang="en-US" sz="1600" dirty="0"/>
              <a:t> Good for seeing the peaks of different months at a glance.</a:t>
            </a:r>
          </a:p>
          <a:p>
            <a:pPr>
              <a:spcAft>
                <a:spcPts val="600"/>
              </a:spcAft>
              <a:defRPr sz="1600">
                <a:solidFill>
                  <a:srgbClr val="141414"/>
                </a:solidFill>
                <a:latin typeface="Calibri"/>
              </a:defRPr>
            </a:pPr>
            <a:r>
              <a:rPr lang="en-US" sz="1600" b="1" dirty="0"/>
              <a:t>Forecast Line:</a:t>
            </a:r>
            <a:r>
              <a:rPr lang="en-US" sz="1600" dirty="0"/>
              <a:t> Provides additional information to help with planning and budgeting decisions.</a:t>
            </a:r>
          </a:p>
          <a:p>
            <a:pPr>
              <a:spcAft>
                <a:spcPts val="600"/>
              </a:spcAft>
              <a:defRPr sz="1600">
                <a:solidFill>
                  <a:srgbClr val="141414"/>
                </a:solidFill>
                <a:latin typeface="Calibri"/>
              </a:defRPr>
            </a:pPr>
            <a:r>
              <a:rPr lang="en-US" sz="1600" b="1" dirty="0"/>
              <a:t>Design Tip: </a:t>
            </a:r>
            <a:r>
              <a:rPr lang="en-US" sz="1600" dirty="0"/>
              <a:t>Use each chart to communicate one message.</a:t>
            </a:r>
            <a:endParaRPr dirty="0"/>
          </a:p>
        </p:txBody>
      </p:sp>
    </p:spTree>
    <p:extLst>
      <p:ext uri="{BB962C8B-B14F-4D97-AF65-F5344CB8AC3E}">
        <p14:creationId xmlns:p14="http://schemas.microsoft.com/office/powerpoint/2010/main" val="11197014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563EB"/>
          </a:solidFill>
          <a:ln w="12700">
            <a:solidFill>
              <a:srgbClr val="2563EB"/>
            </a:solidFill>
            <a:prstDash val="solid"/>
          </a:ln>
        </p:spPr>
        <p:txBody>
          <a:bodyPr/>
          <a:lstStyle/>
          <a:p>
            <a:endParaRPr/>
          </a:p>
        </p:txBody>
      </p:sp>
      <p:sp>
        <p:nvSpPr>
          <p:cNvPr id="3" name="Text 1"/>
          <p:cNvSpPr/>
          <p:nvPr/>
        </p:nvSpPr>
        <p:spPr>
          <a:xfrm>
            <a:off x="548640" y="109728"/>
            <a:ext cx="11094415" cy="27432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Ethics, limitations</a:t>
            </a:r>
            <a:endParaRPr lang="en-US" sz="1800" dirty="0"/>
          </a:p>
        </p:txBody>
      </p:sp>
      <p:sp>
        <p:nvSpPr>
          <p:cNvPr id="4" name="Shape 2"/>
          <p:cNvSpPr/>
          <p:nvPr/>
        </p:nvSpPr>
        <p:spPr>
          <a:xfrm>
            <a:off x="362465" y="914400"/>
            <a:ext cx="11425881" cy="5394960"/>
          </a:xfrm>
          <a:prstGeom prst="round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txBody>
          <a:bodyPr/>
          <a:lstStyle/>
          <a:p>
            <a:endParaRPr lang="en-US"/>
          </a:p>
        </p:txBody>
      </p:sp>
      <p:sp>
        <p:nvSpPr>
          <p:cNvPr id="5" name="Text 3"/>
          <p:cNvSpPr/>
          <p:nvPr/>
        </p:nvSpPr>
        <p:spPr>
          <a:xfrm>
            <a:off x="1005840" y="1097280"/>
            <a:ext cx="5212080" cy="365760"/>
          </a:xfrm>
          <a:prstGeom prst="rect">
            <a:avLst/>
          </a:prstGeom>
          <a:noFill/>
          <a:ln/>
        </p:spPr>
        <p:txBody>
          <a:bodyPr wrap="square" rtlCol="0" anchor="ctr"/>
          <a:lstStyle/>
          <a:p>
            <a:pPr marL="0" indent="0">
              <a:buNone/>
            </a:pPr>
            <a:r>
              <a:rPr lang="en-US" sz="2000" b="1" dirty="0">
                <a:solidFill>
                  <a:srgbClr val="111827"/>
                </a:solidFill>
                <a:latin typeface="Calibri" pitchFamily="34" charset="0"/>
                <a:ea typeface="Calibri" pitchFamily="34" charset="-122"/>
                <a:cs typeface="Calibri" pitchFamily="34" charset="-120"/>
              </a:rPr>
              <a:t>Ethics / privacy / security</a:t>
            </a:r>
            <a:endParaRPr lang="en-US" sz="2000" dirty="0"/>
          </a:p>
        </p:txBody>
      </p:sp>
      <p:sp>
        <p:nvSpPr>
          <p:cNvPr id="6" name="Text 4"/>
          <p:cNvSpPr/>
          <p:nvPr/>
        </p:nvSpPr>
        <p:spPr>
          <a:xfrm>
            <a:off x="1005840" y="1490429"/>
            <a:ext cx="10709190" cy="1466340"/>
          </a:xfrm>
          <a:prstGeom prst="rect">
            <a:avLst/>
          </a:prstGeom>
          <a:noFill/>
          <a:ln/>
        </p:spPr>
        <p:txBody>
          <a:bodyPr wrap="square" rtlCol="0" anchor="ctr"/>
          <a:lstStyle/>
          <a:p>
            <a:pPr marL="285750" indent="-285750">
              <a:buFont typeface="Arial" panose="020B0604020202020204" pitchFamily="34" charset="0"/>
              <a:buChar char="•"/>
            </a:pPr>
            <a:r>
              <a:rPr lang="en-US" sz="1400" dirty="0"/>
              <a:t>Steps involved in data cleaning (dealing with duplicates, missing values) could impact results.</a:t>
            </a:r>
          </a:p>
          <a:p>
            <a:pPr marL="285750" indent="-285750">
              <a:buFont typeface="Arial" panose="020B0604020202020204" pitchFamily="34" charset="0"/>
              <a:buChar char="•"/>
            </a:pPr>
            <a:r>
              <a:rPr lang="en-US" sz="1400" dirty="0"/>
              <a:t>I record all modifications and do not manipulate data to “force” a particular result.</a:t>
            </a:r>
          </a:p>
          <a:p>
            <a:pPr marL="285750" indent="-285750">
              <a:buFont typeface="Arial" panose="020B0604020202020204" pitchFamily="34" charset="0"/>
              <a:buChar char="•"/>
            </a:pPr>
            <a:r>
              <a:rPr lang="en-US" sz="1400" dirty="0"/>
              <a:t>Although the data is public, I am not allowed to identify specific individuals or small groups of people.</a:t>
            </a:r>
          </a:p>
          <a:p>
            <a:pPr marL="285750" indent="-285750">
              <a:buFont typeface="Arial" panose="020B0604020202020204" pitchFamily="34" charset="0"/>
              <a:buChar char="•"/>
            </a:pPr>
            <a:r>
              <a:rPr lang="en-US" sz="1400" dirty="0"/>
              <a:t>I am only reporting aggregate results (state, industry, month) to preserve anonymity.</a:t>
            </a:r>
          </a:p>
          <a:p>
            <a:pPr marL="285750" indent="-285750">
              <a:buFont typeface="Arial" panose="020B0604020202020204" pitchFamily="34" charset="0"/>
              <a:buChar char="•"/>
            </a:pPr>
            <a:r>
              <a:rPr lang="en-US" sz="1400" dirty="0"/>
              <a:t>I am not claiming “cause and effect” if the analysis is simply illustrating trends/correlations.</a:t>
            </a:r>
          </a:p>
        </p:txBody>
      </p:sp>
      <p:sp>
        <p:nvSpPr>
          <p:cNvPr id="7" name="Shape 5"/>
          <p:cNvSpPr/>
          <p:nvPr/>
        </p:nvSpPr>
        <p:spPr>
          <a:xfrm>
            <a:off x="548640" y="3516321"/>
            <a:ext cx="10943144" cy="2404625"/>
          </a:xfrm>
          <a:prstGeom prst="roundRect">
            <a:avLst/>
          </a:prstGeom>
          <a:solidFill>
            <a:srgbClr val="F8FAFC"/>
          </a:solidFill>
          <a:ln w="12700">
            <a:solidFill>
              <a:srgbClr val="E5E7EB"/>
            </a:solidFill>
            <a:prstDash val="solid"/>
          </a:ln>
        </p:spPr>
        <p:txBody>
          <a:bodyPr/>
          <a:lstStyle/>
          <a:p>
            <a:endParaRPr lang="en-US"/>
          </a:p>
        </p:txBody>
      </p:sp>
      <p:sp>
        <p:nvSpPr>
          <p:cNvPr id="8" name="Text 6"/>
          <p:cNvSpPr/>
          <p:nvPr/>
        </p:nvSpPr>
        <p:spPr>
          <a:xfrm>
            <a:off x="787125" y="3861281"/>
            <a:ext cx="4937760" cy="274320"/>
          </a:xfrm>
          <a:prstGeom prst="rect">
            <a:avLst/>
          </a:prstGeom>
          <a:noFill/>
          <a:ln/>
        </p:spPr>
        <p:txBody>
          <a:bodyPr wrap="square" rtlCol="0" anchor="ctr"/>
          <a:lstStyle/>
          <a:p>
            <a:pPr marL="0" indent="0">
              <a:buNone/>
            </a:pPr>
            <a:r>
              <a:rPr lang="en-US" sz="1400" b="1" dirty="0">
                <a:solidFill>
                  <a:srgbClr val="111827"/>
                </a:solidFill>
                <a:latin typeface="Calibri" pitchFamily="34" charset="0"/>
                <a:ea typeface="Calibri" pitchFamily="34" charset="-122"/>
                <a:cs typeface="Calibri" pitchFamily="34" charset="-120"/>
              </a:rPr>
              <a:t>Limitations </a:t>
            </a:r>
            <a:endParaRPr lang="en-US" sz="1400" dirty="0"/>
          </a:p>
        </p:txBody>
      </p:sp>
      <p:sp>
        <p:nvSpPr>
          <p:cNvPr id="9" name="Text 7"/>
          <p:cNvSpPr/>
          <p:nvPr/>
        </p:nvSpPr>
        <p:spPr>
          <a:xfrm>
            <a:off x="787124" y="3998441"/>
            <a:ext cx="10473999" cy="1581666"/>
          </a:xfrm>
          <a:prstGeom prst="rect">
            <a:avLst/>
          </a:prstGeom>
          <a:noFill/>
          <a:ln/>
        </p:spPr>
        <p:txBody>
          <a:bodyPr wrap="square" rtlCol="0" anchor="ctr"/>
          <a:lstStyle/>
          <a:p>
            <a:pPr marL="171450" indent="-171450">
              <a:lnSpc>
                <a:spcPct val="115000"/>
              </a:lnSpc>
              <a:buFont typeface="Arial" panose="020B0604020202020204" pitchFamily="34" charset="0"/>
              <a:buChar char="•"/>
            </a:pPr>
            <a:r>
              <a:rPr lang="en-US" sz="1400" dirty="0"/>
              <a:t>Key drivers (inflation, income, population, policy/events) are not given for the data set, so we can only discuss trends and not confirm the causes of the trends.</a:t>
            </a:r>
          </a:p>
          <a:p>
            <a:pPr marL="171450" indent="-171450">
              <a:lnSpc>
                <a:spcPct val="115000"/>
              </a:lnSpc>
              <a:buFont typeface="Arial" panose="020B0604020202020204" pitchFamily="34" charset="0"/>
              <a:buChar char="•"/>
            </a:pPr>
            <a:r>
              <a:rPr lang="en-US" sz="1400" dirty="0"/>
              <a:t>Linear trend line/forecast may underestimate or overestimate if there are changes or shocks in growth.</a:t>
            </a:r>
          </a:p>
          <a:p>
            <a:pPr marL="171450" indent="-171450">
              <a:lnSpc>
                <a:spcPct val="115000"/>
              </a:lnSpc>
              <a:buFont typeface="Arial" panose="020B0604020202020204" pitchFamily="34" charset="0"/>
              <a:buChar char="•"/>
            </a:pPr>
            <a:r>
              <a:rPr lang="en-US" sz="1400" dirty="0"/>
              <a:t>State/industry/month level of data means that differences at the local or business level are masked.</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2563EB"/>
          </a:solidFill>
          <a:ln w="12700">
            <a:solidFill>
              <a:srgbClr val="2563EB"/>
            </a:solidFill>
            <a:prstDash val="solid"/>
          </a:ln>
        </p:spPr>
        <p:txBody>
          <a:bodyPr/>
          <a:lstStyle/>
          <a:p>
            <a:endParaRPr/>
          </a:p>
        </p:txBody>
      </p:sp>
      <p:sp>
        <p:nvSpPr>
          <p:cNvPr id="3" name="Text 1"/>
          <p:cNvSpPr/>
          <p:nvPr/>
        </p:nvSpPr>
        <p:spPr>
          <a:xfrm>
            <a:off x="548640" y="109728"/>
            <a:ext cx="11094415" cy="27432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Conclusion</a:t>
            </a:r>
            <a:endParaRPr lang="en-US" sz="1800" dirty="0"/>
          </a:p>
        </p:txBody>
      </p:sp>
      <p:sp>
        <p:nvSpPr>
          <p:cNvPr id="7" name="Shape 5"/>
          <p:cNvSpPr/>
          <p:nvPr/>
        </p:nvSpPr>
        <p:spPr>
          <a:xfrm>
            <a:off x="490975" y="937878"/>
            <a:ext cx="10943144" cy="2404625"/>
          </a:xfrm>
          <a:prstGeom prst="roundRect">
            <a:avLst/>
          </a:prstGeom>
          <a:solidFill>
            <a:srgbClr val="F8FAFC"/>
          </a:solidFill>
          <a:ln w="12700">
            <a:solidFill>
              <a:srgbClr val="E5E7EB"/>
            </a:solidFill>
            <a:prstDash val="solid"/>
          </a:ln>
        </p:spPr>
        <p:txBody>
          <a:bodyPr/>
          <a:lstStyle/>
          <a:p>
            <a:endParaRPr lang="en-US"/>
          </a:p>
        </p:txBody>
      </p:sp>
      <p:sp>
        <p:nvSpPr>
          <p:cNvPr id="9" name="Text 7"/>
          <p:cNvSpPr/>
          <p:nvPr/>
        </p:nvSpPr>
        <p:spPr>
          <a:xfrm>
            <a:off x="725547" y="864726"/>
            <a:ext cx="10473999" cy="2438400"/>
          </a:xfrm>
          <a:prstGeom prst="rect">
            <a:avLst/>
          </a:prstGeom>
          <a:noFill/>
          <a:ln/>
        </p:spPr>
        <p:txBody>
          <a:bodyPr wrap="square" rtlCol="0" anchor="ctr"/>
          <a:lstStyle/>
          <a:p>
            <a:pPr>
              <a:lnSpc>
                <a:spcPct val="115000"/>
              </a:lnSpc>
            </a:pPr>
            <a:endParaRPr lang="en-US" sz="1600" dirty="0"/>
          </a:p>
        </p:txBody>
      </p:sp>
      <p:sp>
        <p:nvSpPr>
          <p:cNvPr id="10" name="Rectangle 1"/>
          <p:cNvSpPr>
            <a:spLocks noChangeArrowheads="1"/>
          </p:cNvSpPr>
          <p:nvPr/>
        </p:nvSpPr>
        <p:spPr bwMode="auto">
          <a:xfrm>
            <a:off x="152400"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2"/>
          <p:cNvSpPr>
            <a:spLocks noChangeArrowheads="1"/>
          </p:cNvSpPr>
          <p:nvPr/>
        </p:nvSpPr>
        <p:spPr bwMode="auto">
          <a:xfrm>
            <a:off x="637093" y="1268318"/>
            <a:ext cx="10650906"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000" dirty="0"/>
              <a:t>In conclusion, from my analysis, it is clear that the retail turnover in Australia has been steadily increasing over the years, with the main contribution coming from the major states and the essential retail industries. The results from the seasonality analysis show the monthly demand patterns that can be used to make decisions, while the models show that the retail turnover will continue to increase in the future.</a:t>
            </a: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2337780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547</TotalTime>
  <Words>1743</Words>
  <Application>Microsoft Office PowerPoint</Application>
  <PresentationFormat>Widescreen</PresentationFormat>
  <Paragraphs>156</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Australia Retail Turnover: Trends, Insights &amp; Forecast</dc:title>
  <dc:subject>Australia Retail Turnover Trends</dc:subject>
  <dc:creator>Generated with ChatGPT</dc:creator>
  <cp:lastModifiedBy>Rojan Chandra Poudel</cp:lastModifiedBy>
  <cp:revision>22</cp:revision>
  <dcterms:created xsi:type="dcterms:W3CDTF">2026-02-02T05:53:57Z</dcterms:created>
  <dcterms:modified xsi:type="dcterms:W3CDTF">2026-10-26T16:33:21Z</dcterms:modified>
</cp:coreProperties>
</file>